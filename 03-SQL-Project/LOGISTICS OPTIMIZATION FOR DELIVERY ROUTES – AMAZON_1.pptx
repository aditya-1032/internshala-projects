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notesMasterIdLst>
    <p:notesMasterId r:id="rId23"/>
  </p:notesMasterIdLst>
  <p:handoutMasterIdLst>
    <p:handoutMasterId r:id="rId24"/>
  </p:handoutMasterIdLst>
  <p:sldIdLst>
    <p:sldId id="256" r:id="rId2"/>
    <p:sldId id="258" r:id="rId3"/>
    <p:sldId id="259" r:id="rId4"/>
    <p:sldId id="260" r:id="rId5"/>
    <p:sldId id="261" r:id="rId6"/>
    <p:sldId id="262" r:id="rId7"/>
    <p:sldId id="264" r:id="rId8"/>
    <p:sldId id="263" r:id="rId9"/>
    <p:sldId id="265" r:id="rId10"/>
    <p:sldId id="266" r:id="rId11"/>
    <p:sldId id="268" r:id="rId12"/>
    <p:sldId id="269" r:id="rId13"/>
    <p:sldId id="270" r:id="rId14"/>
    <p:sldId id="267" r:id="rId15"/>
    <p:sldId id="272" r:id="rId16"/>
    <p:sldId id="271" r:id="rId17"/>
    <p:sldId id="273" r:id="rId18"/>
    <p:sldId id="275" r:id="rId19"/>
    <p:sldId id="276" r:id="rId20"/>
    <p:sldId id="277" r:id="rId21"/>
    <p:sldId id="27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E5E5"/>
    <a:srgbClr val="333333"/>
    <a:srgbClr val="F9F9F9"/>
    <a:srgbClr val="232F3E"/>
    <a:srgbClr val="FF33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4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2299"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Gupta" userId="2c0d5f70a2e5c3f0" providerId="LiveId" clId="{A711AA5B-3DF8-4113-9B17-5A0DB185379A}"/>
    <pc:docChg chg="custSel modSld">
      <pc:chgData name="Aditya Gupta" userId="2c0d5f70a2e5c3f0" providerId="LiveId" clId="{A711AA5B-3DF8-4113-9B17-5A0DB185379A}" dt="2025-10-17T09:29:51.320" v="13" actId="1076"/>
      <pc:docMkLst>
        <pc:docMk/>
      </pc:docMkLst>
      <pc:sldChg chg="modSp mod">
        <pc:chgData name="Aditya Gupta" userId="2c0d5f70a2e5c3f0" providerId="LiveId" clId="{A711AA5B-3DF8-4113-9B17-5A0DB185379A}" dt="2025-10-17T09:22:08.940" v="0" actId="1076"/>
        <pc:sldMkLst>
          <pc:docMk/>
          <pc:sldMk cId="1574975969" sldId="262"/>
        </pc:sldMkLst>
        <pc:picChg chg="mod">
          <ac:chgData name="Aditya Gupta" userId="2c0d5f70a2e5c3f0" providerId="LiveId" clId="{A711AA5B-3DF8-4113-9B17-5A0DB185379A}" dt="2025-10-17T09:22:08.940" v="0" actId="1076"/>
          <ac:picMkLst>
            <pc:docMk/>
            <pc:sldMk cId="1574975969" sldId="262"/>
            <ac:picMk id="6" creationId="{9EC6E606-D8A0-3568-46F6-AF67FB0B8CC8}"/>
          </ac:picMkLst>
        </pc:picChg>
      </pc:sldChg>
      <pc:sldChg chg="modSp mod">
        <pc:chgData name="Aditya Gupta" userId="2c0d5f70a2e5c3f0" providerId="LiveId" clId="{A711AA5B-3DF8-4113-9B17-5A0DB185379A}" dt="2025-10-17T09:22:45.726" v="2" actId="12"/>
        <pc:sldMkLst>
          <pc:docMk/>
          <pc:sldMk cId="3934485523" sldId="264"/>
        </pc:sldMkLst>
        <pc:spChg chg="mod">
          <ac:chgData name="Aditya Gupta" userId="2c0d5f70a2e5c3f0" providerId="LiveId" clId="{A711AA5B-3DF8-4113-9B17-5A0DB185379A}" dt="2025-10-17T09:22:45.726" v="2" actId="12"/>
          <ac:spMkLst>
            <pc:docMk/>
            <pc:sldMk cId="3934485523" sldId="264"/>
            <ac:spMk id="13" creationId="{2B320476-3A50-D0CE-54E6-88396222CBD4}"/>
          </ac:spMkLst>
        </pc:spChg>
      </pc:sldChg>
      <pc:sldChg chg="addSp delSp modSp mod">
        <pc:chgData name="Aditya Gupta" userId="2c0d5f70a2e5c3f0" providerId="LiveId" clId="{A711AA5B-3DF8-4113-9B17-5A0DB185379A}" dt="2025-10-17T09:26:55.211" v="11" actId="14100"/>
        <pc:sldMkLst>
          <pc:docMk/>
          <pc:sldMk cId="3091398874" sldId="269"/>
        </pc:sldMkLst>
        <pc:picChg chg="add mod">
          <ac:chgData name="Aditya Gupta" userId="2c0d5f70a2e5c3f0" providerId="LiveId" clId="{A711AA5B-3DF8-4113-9B17-5A0DB185379A}" dt="2025-10-17T09:26:55.211" v="11" actId="14100"/>
          <ac:picMkLst>
            <pc:docMk/>
            <pc:sldMk cId="3091398874" sldId="269"/>
            <ac:picMk id="4" creationId="{DC29FE65-02D9-598E-C92E-E9899E19DA0E}"/>
          </ac:picMkLst>
        </pc:picChg>
        <pc:picChg chg="del">
          <ac:chgData name="Aditya Gupta" userId="2c0d5f70a2e5c3f0" providerId="LiveId" clId="{A711AA5B-3DF8-4113-9B17-5A0DB185379A}" dt="2025-10-17T09:26:13.001" v="7" actId="478"/>
          <ac:picMkLst>
            <pc:docMk/>
            <pc:sldMk cId="3091398874" sldId="269"/>
            <ac:picMk id="6" creationId="{9428EBAA-EFED-E43A-2E20-2D3FADCC288B}"/>
          </ac:picMkLst>
        </pc:picChg>
        <pc:picChg chg="add mod">
          <ac:chgData name="Aditya Gupta" userId="2c0d5f70a2e5c3f0" providerId="LiveId" clId="{A711AA5B-3DF8-4113-9B17-5A0DB185379A}" dt="2025-10-17T09:26:23.213" v="10" actId="14100"/>
          <ac:picMkLst>
            <pc:docMk/>
            <pc:sldMk cId="3091398874" sldId="269"/>
            <ac:picMk id="9" creationId="{BE323501-B95F-5447-DFFF-0A50F1F1B185}"/>
          </ac:picMkLst>
        </pc:picChg>
        <pc:picChg chg="del">
          <ac:chgData name="Aditya Gupta" userId="2c0d5f70a2e5c3f0" providerId="LiveId" clId="{A711AA5B-3DF8-4113-9B17-5A0DB185379A}" dt="2025-10-17T09:25:19.908" v="3" actId="478"/>
          <ac:picMkLst>
            <pc:docMk/>
            <pc:sldMk cId="3091398874" sldId="269"/>
            <ac:picMk id="11" creationId="{38526CBD-F447-EE8B-40EF-15DB76C30276}"/>
          </ac:picMkLst>
        </pc:picChg>
      </pc:sldChg>
      <pc:sldChg chg="modSp mod">
        <pc:chgData name="Aditya Gupta" userId="2c0d5f70a2e5c3f0" providerId="LiveId" clId="{A711AA5B-3DF8-4113-9B17-5A0DB185379A}" dt="2025-10-17T09:29:51.320" v="13" actId="1076"/>
        <pc:sldMkLst>
          <pc:docMk/>
          <pc:sldMk cId="2855033686" sldId="277"/>
        </pc:sldMkLst>
        <pc:spChg chg="mod">
          <ac:chgData name="Aditya Gupta" userId="2c0d5f70a2e5c3f0" providerId="LiveId" clId="{A711AA5B-3DF8-4113-9B17-5A0DB185379A}" dt="2025-10-17T09:29:43.757" v="12"/>
          <ac:spMkLst>
            <pc:docMk/>
            <pc:sldMk cId="2855033686" sldId="277"/>
            <ac:spMk id="13" creationId="{2B7ED941-B09D-F75D-C6DC-3BCFA9C2E3A5}"/>
          </ac:spMkLst>
        </pc:spChg>
        <pc:picChg chg="mod">
          <ac:chgData name="Aditya Gupta" userId="2c0d5f70a2e5c3f0" providerId="LiveId" clId="{A711AA5B-3DF8-4113-9B17-5A0DB185379A}" dt="2025-10-17T09:29:51.320" v="13" actId="1076"/>
          <ac:picMkLst>
            <pc:docMk/>
            <pc:sldMk cId="2855033686" sldId="277"/>
            <ac:picMk id="4" creationId="{4D47C984-1886-A918-801B-71EB937DF639}"/>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Sheet1!$A$1</c:f>
              <c:strCache>
                <c:ptCount val="1"/>
                <c:pt idx="0">
                  <c:v>Delivery_Delay_Days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0</c:v>
                </c:pt>
                <c:pt idx="1">
                  <c:v>2</c:v>
                </c:pt>
                <c:pt idx="2">
                  <c:v>1</c:v>
                </c:pt>
              </c:numCache>
            </c:numRef>
          </c:cat>
          <c:val>
            <c:numRef>
              <c:f>Sheet1!$A$2:$A$4</c:f>
              <c:numCache>
                <c:formatCode>General</c:formatCode>
                <c:ptCount val="3"/>
                <c:pt idx="0">
                  <c:v>0</c:v>
                </c:pt>
                <c:pt idx="1">
                  <c:v>2</c:v>
                </c:pt>
                <c:pt idx="2">
                  <c:v>1</c:v>
                </c:pt>
              </c:numCache>
            </c:numRef>
          </c:val>
          <c:extLst>
            <c:ext xmlns:c16="http://schemas.microsoft.com/office/drawing/2014/chart" uri="{C3380CC4-5D6E-409C-BE32-E72D297353CC}">
              <c16:uniqueId val="{00000003-CC45-4785-A1A9-013A7060E760}"/>
            </c:ext>
          </c:extLst>
        </c:ser>
        <c:ser>
          <c:idx val="1"/>
          <c:order val="1"/>
          <c:tx>
            <c:strRef>
              <c:f>Sheet1!$B$1</c:f>
              <c:strCache>
                <c:ptCount val="1"/>
                <c:pt idx="0">
                  <c:v>Order_Count</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0</c:v>
                </c:pt>
                <c:pt idx="1">
                  <c:v>2</c:v>
                </c:pt>
                <c:pt idx="2">
                  <c:v>1</c:v>
                </c:pt>
              </c:numCache>
            </c:numRef>
          </c:cat>
          <c:val>
            <c:numRef>
              <c:f>Sheet1!$B$2:$B$4</c:f>
              <c:numCache>
                <c:formatCode>General</c:formatCode>
                <c:ptCount val="3"/>
                <c:pt idx="0">
                  <c:v>168</c:v>
                </c:pt>
                <c:pt idx="1">
                  <c:v>74</c:v>
                </c:pt>
                <c:pt idx="2">
                  <c:v>58</c:v>
                </c:pt>
              </c:numCache>
            </c:numRef>
          </c:val>
          <c:extLst>
            <c:ext xmlns:c16="http://schemas.microsoft.com/office/drawing/2014/chart" uri="{C3380CC4-5D6E-409C-BE32-E72D297353CC}">
              <c16:uniqueId val="{00000004-CC45-4785-A1A9-013A7060E760}"/>
            </c:ext>
          </c:extLst>
        </c:ser>
        <c:dLbls>
          <c:dLblPos val="ctr"/>
          <c:showLegendKey val="0"/>
          <c:showVal val="1"/>
          <c:showCatName val="0"/>
          <c:showSerName val="0"/>
          <c:showPercent val="0"/>
          <c:showBubbleSize val="0"/>
        </c:dLbls>
        <c:gapWidth val="150"/>
        <c:overlap val="100"/>
        <c:axId val="586021680"/>
        <c:axId val="586025280"/>
      </c:barChart>
      <c:catAx>
        <c:axId val="586021680"/>
        <c:scaling>
          <c:orientation val="minMax"/>
        </c:scaling>
        <c:delete val="1"/>
        <c:axPos val="b"/>
        <c:numFmt formatCode="General" sourceLinked="1"/>
        <c:majorTickMark val="none"/>
        <c:minorTickMark val="none"/>
        <c:tickLblPos val="nextTo"/>
        <c:crossAx val="586025280"/>
        <c:crosses val="autoZero"/>
        <c:auto val="1"/>
        <c:lblAlgn val="ctr"/>
        <c:lblOffset val="100"/>
        <c:noMultiLvlLbl val="0"/>
      </c:catAx>
      <c:valAx>
        <c:axId val="586025280"/>
        <c:scaling>
          <c:orientation val="minMax"/>
        </c:scaling>
        <c:delete val="1"/>
        <c:axPos val="l"/>
        <c:numFmt formatCode="General" sourceLinked="1"/>
        <c:majorTickMark val="none"/>
        <c:minorTickMark val="none"/>
        <c:tickLblPos val="nextTo"/>
        <c:crossAx val="5860216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E214E2-1382-CB99-CC0A-7688EA8674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123F947-40E3-FCE0-FB63-D8200AE9910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3342704-3E90-495F-8867-1230252E208B}" type="datetimeFigureOut">
              <a:rPr lang="en-US" smtClean="0"/>
              <a:t>10/17/2025</a:t>
            </a:fld>
            <a:endParaRPr lang="en-US"/>
          </a:p>
        </p:txBody>
      </p:sp>
      <p:sp>
        <p:nvSpPr>
          <p:cNvPr id="4" name="Footer Placeholder 3">
            <a:extLst>
              <a:ext uri="{FF2B5EF4-FFF2-40B4-BE49-F238E27FC236}">
                <a16:creationId xmlns:a16="http://schemas.microsoft.com/office/drawing/2014/main" id="{B41CD7E9-EAEF-4CB9-CE89-834DFCBD5DC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AEB927D-82CD-F293-41E3-6849934CA6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1AF0DAC-CE7A-4540-ADB0-41D47C4F236D}" type="slidenum">
              <a:rPr lang="en-US" smtClean="0"/>
              <a:t>‹#›</a:t>
            </a:fld>
            <a:endParaRPr lang="en-US"/>
          </a:p>
        </p:txBody>
      </p:sp>
    </p:spTree>
    <p:extLst>
      <p:ext uri="{BB962C8B-B14F-4D97-AF65-F5344CB8AC3E}">
        <p14:creationId xmlns:p14="http://schemas.microsoft.com/office/powerpoint/2010/main" val="251074776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9D7A5D-28D1-443E-82F9-36B4E619EBEC}" type="datetimeFigureOut">
              <a:rPr lang="en-US" smtClean="0"/>
              <a:t>10/17/2025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AEDF53-87FF-4FFD-98AB-CE5CBA01AF65}" type="slidenum">
              <a:rPr lang="en-US" smtClean="0"/>
              <a:t>‹#›</a:t>
            </a:fld>
            <a:endParaRPr lang="en-US"/>
          </a:p>
        </p:txBody>
      </p:sp>
    </p:spTree>
    <p:extLst>
      <p:ext uri="{BB962C8B-B14F-4D97-AF65-F5344CB8AC3E}">
        <p14:creationId xmlns:p14="http://schemas.microsoft.com/office/powerpoint/2010/main" val="402729089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userDrawn="1"/>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US" dirty="0"/>
          </a:p>
        </p:txBody>
      </p:sp>
      <p:sp>
        <p:nvSpPr>
          <p:cNvPr id="6" name="Slide Number Placeholder 5"/>
          <p:cNvSpPr>
            <a:spLocks noGrp="1"/>
          </p:cNvSpPr>
          <p:nvPr>
            <p:ph type="sldNum" sz="quarter" idx="12"/>
          </p:nvPr>
        </p:nvSpPr>
        <p:spPr>
          <a:xfrm>
            <a:off x="10351008" y="292608"/>
            <a:ext cx="838199" cy="767687"/>
          </a:xfrm>
          <a:prstGeom prst="rect">
            <a:avLst/>
          </a:prstGeom>
        </p:spPr>
        <p:txBody>
          <a:bodyPr/>
          <a:lstStyle>
            <a:lvl1pPr>
              <a:defRPr sz="2800" b="0" i="0">
                <a:latin typeface="+mj-lt"/>
              </a:defRPr>
            </a:lvl1pPr>
          </a:lstStyle>
          <a:p>
            <a:fld id="{553AFB6A-24EB-4B8E-91BB-AC9A61320135}" type="slidenum">
              <a:rPr lang="en-US" smtClean="0"/>
              <a:t>‹#›</a:t>
            </a:fld>
            <a:endParaRPr lang="en-US"/>
          </a:p>
        </p:txBody>
      </p:sp>
    </p:spTree>
    <p:extLst>
      <p:ext uri="{BB962C8B-B14F-4D97-AF65-F5344CB8AC3E}">
        <p14:creationId xmlns:p14="http://schemas.microsoft.com/office/powerpoint/2010/main" val="1157918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lvl1pPr>
              <a:defRPr sz="1000" b="1"/>
            </a:lvl1p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790942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lvl1pPr>
              <a:defRPr sz="1000" b="1"/>
            </a:lvl1pPr>
          </a:lstStyle>
          <a:p>
            <a:endParaRPr lang="en-US"/>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260462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pattFill prst="pct6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dirty="0"/>
              <a:t>Click to edit Master title style</a:t>
            </a:r>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276098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638305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2951473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1357941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4172243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1170272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478494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2733187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1240067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2236067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22506689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40303278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9602990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553AFB6A-24EB-4B8E-91BB-AC9A61320135}" type="slidenum">
              <a:rPr lang="en-US" smtClean="0"/>
              <a:t>‹#›</a:t>
            </a:fld>
            <a:endParaRPr lang="en-US"/>
          </a:p>
        </p:txBody>
      </p:sp>
    </p:spTree>
    <p:extLst>
      <p:ext uri="{BB962C8B-B14F-4D97-AF65-F5344CB8AC3E}">
        <p14:creationId xmlns:p14="http://schemas.microsoft.com/office/powerpoint/2010/main" val="1650914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9F9F9"/>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endParaRPr lang="en-US"/>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53AFB6A-24EB-4B8E-91BB-AC9A61320135}" type="slidenum">
              <a:rPr lang="en-US" smtClean="0"/>
              <a:t>‹#›</a:t>
            </a:fld>
            <a:endParaRPr lang="en-US" dirty="0"/>
          </a:p>
        </p:txBody>
      </p:sp>
    </p:spTree>
    <p:extLst>
      <p:ext uri="{BB962C8B-B14F-4D97-AF65-F5344CB8AC3E}">
        <p14:creationId xmlns:p14="http://schemas.microsoft.com/office/powerpoint/2010/main" val="1724714075"/>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chart" Target="../charts/chart1.xml"/><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sv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4.sv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png"/><Relationship Id="rId7"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png"/><Relationship Id="rId7"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3.png"/><Relationship Id="rId7" Type="http://schemas.openxmlformats.org/officeDocument/2006/relationships/image" Target="../media/image50.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svg"/><Relationship Id="rId9" Type="http://schemas.openxmlformats.org/officeDocument/2006/relationships/image" Target="../media/image52.png"/></Relationships>
</file>

<file path=ppt/slides/_rels/slide1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3.png"/><Relationship Id="rId7" Type="http://schemas.openxmlformats.org/officeDocument/2006/relationships/image" Target="../media/image55.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4.svg"/><Relationship Id="rId9"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9990D-C13F-069D-4B0B-8F281ECE1FF3}"/>
              </a:ext>
            </a:extLst>
          </p:cNvPr>
          <p:cNvSpPr>
            <a:spLocks noGrp="1"/>
          </p:cNvSpPr>
          <p:nvPr>
            <p:ph type="ctrTitle"/>
          </p:nvPr>
        </p:nvSpPr>
        <p:spPr>
          <a:xfrm>
            <a:off x="840556" y="1562106"/>
            <a:ext cx="10510887" cy="6244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noAutofit/>
          </a:bodyPr>
          <a:lstStyle/>
          <a:p>
            <a:r>
              <a:rPr lang="en-US" sz="3200" b="1" dirty="0">
                <a:solidFill>
                  <a:srgbClr val="FF9900"/>
                </a:solidFill>
                <a:latin typeface=" Amazon Ember"/>
                <a:cs typeface="Poppins" panose="020B0502040204020203" pitchFamily="2" charset="0"/>
              </a:rPr>
              <a:t>LOGISTICS OPTIMIZATION FOR DELIVERY ROUTES – AMAZON </a:t>
            </a:r>
          </a:p>
        </p:txBody>
      </p:sp>
      <p:sp>
        <p:nvSpPr>
          <p:cNvPr id="13" name="Subtitle 12">
            <a:extLst>
              <a:ext uri="{FF2B5EF4-FFF2-40B4-BE49-F238E27FC236}">
                <a16:creationId xmlns:a16="http://schemas.microsoft.com/office/drawing/2014/main" id="{80C20332-76EC-E7A7-4307-3BA43CFAF8F2}"/>
              </a:ext>
            </a:extLst>
          </p:cNvPr>
          <p:cNvSpPr>
            <a:spLocks noGrp="1"/>
          </p:cNvSpPr>
          <p:nvPr>
            <p:ph type="subTitle" idx="1"/>
          </p:nvPr>
        </p:nvSpPr>
        <p:spPr>
          <a:xfrm>
            <a:off x="914400" y="2791278"/>
            <a:ext cx="7466029" cy="1092757"/>
          </a:xfrm>
        </p:spPr>
        <p:txBody>
          <a:bodyPr>
            <a:noAutofit/>
          </a:bodyPr>
          <a:lstStyle/>
          <a:p>
            <a:pPr>
              <a:lnSpc>
                <a:spcPct val="150000"/>
              </a:lnSpc>
            </a:pPr>
            <a:r>
              <a:rPr lang="en-US" sz="2000" dirty="0">
                <a:solidFill>
                  <a:schemeClr val="bg1"/>
                </a:solidFill>
              </a:rPr>
              <a:t>A Data-Driven Analysis of Route Efficiency, Warehouse Performance, and Delivery Optimization</a:t>
            </a:r>
          </a:p>
        </p:txBody>
      </p:sp>
      <p:pic>
        <p:nvPicPr>
          <p:cNvPr id="1026" name="Picture 2" descr="Current logo (2024–)">
            <a:extLst>
              <a:ext uri="{FF2B5EF4-FFF2-40B4-BE49-F238E27FC236}">
                <a16:creationId xmlns:a16="http://schemas.microsoft.com/office/drawing/2014/main" id="{518F1F78-869F-5215-59BC-828233E36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48924DC2-4CC1-BD99-E8EF-F9314423BE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09B42D79-D229-0650-2C56-B5BDE0A0950D}"/>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sp>
        <p:nvSpPr>
          <p:cNvPr id="15" name="Subtitle 12">
            <a:extLst>
              <a:ext uri="{FF2B5EF4-FFF2-40B4-BE49-F238E27FC236}">
                <a16:creationId xmlns:a16="http://schemas.microsoft.com/office/drawing/2014/main" id="{1D011D10-291B-3E09-D333-2FACFCE66E4A}"/>
              </a:ext>
            </a:extLst>
          </p:cNvPr>
          <p:cNvSpPr txBox="1">
            <a:spLocks/>
          </p:cNvSpPr>
          <p:nvPr/>
        </p:nvSpPr>
        <p:spPr>
          <a:xfrm>
            <a:off x="4548186" y="5960576"/>
            <a:ext cx="3095625" cy="466720"/>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cap="all">
                <a:solidFill>
                  <a:schemeClr val="tx2">
                    <a:lumMod val="40000"/>
                    <a:lumOff val="6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9pPr>
          </a:lstStyle>
          <a:p>
            <a:r>
              <a:rPr lang="en-US" dirty="0">
                <a:solidFill>
                  <a:srgbClr val="E5E5E5"/>
                </a:solidFill>
              </a:rPr>
              <a:t>Aditya KUMAR GUPTA</a:t>
            </a:r>
          </a:p>
        </p:txBody>
      </p:sp>
    </p:spTree>
    <p:extLst>
      <p:ext uri="{BB962C8B-B14F-4D97-AF65-F5344CB8AC3E}">
        <p14:creationId xmlns:p14="http://schemas.microsoft.com/office/powerpoint/2010/main" val="3642553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236C7ADC-267C-46EC-6A6D-62F6E30C1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CC0BE-B002-9B13-9256-B6C8B68702D6}"/>
              </a:ext>
            </a:extLst>
          </p:cNvPr>
          <p:cNvSpPr>
            <a:spLocks noGrp="1"/>
          </p:cNvSpPr>
          <p:nvPr>
            <p:ph type="title"/>
          </p:nvPr>
        </p:nvSpPr>
        <p:spPr>
          <a:xfrm>
            <a:off x="3037557" y="838199"/>
            <a:ext cx="6342438"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noAutofit/>
          </a:bodyPr>
          <a:lstStyle/>
          <a:p>
            <a:pPr algn="ctr"/>
            <a:r>
              <a:rPr lang="en-US" sz="2800" b="1" dirty="0">
                <a:solidFill>
                  <a:srgbClr val="FF9900"/>
                </a:solidFill>
                <a:latin typeface=" Amazon Ember"/>
                <a:cs typeface="Poppins" panose="020B0502040204020203" pitchFamily="2" charset="0"/>
              </a:rPr>
              <a:t>Task 1: Data Cleaning &amp; Preparation  </a:t>
            </a:r>
          </a:p>
        </p:txBody>
      </p:sp>
      <p:sp>
        <p:nvSpPr>
          <p:cNvPr id="13" name="Subtitle 12">
            <a:extLst>
              <a:ext uri="{FF2B5EF4-FFF2-40B4-BE49-F238E27FC236}">
                <a16:creationId xmlns:a16="http://schemas.microsoft.com/office/drawing/2014/main" id="{A98DECF4-E93E-3E7C-B9EB-D73396E1EA41}"/>
              </a:ext>
            </a:extLst>
          </p:cNvPr>
          <p:cNvSpPr>
            <a:spLocks noGrp="1"/>
          </p:cNvSpPr>
          <p:nvPr>
            <p:ph sz="half" idx="1"/>
          </p:nvPr>
        </p:nvSpPr>
        <p:spPr>
          <a:xfrm>
            <a:off x="1154954" y="2603500"/>
            <a:ext cx="3683746" cy="3416301"/>
          </a:xfrm>
        </p:spPr>
        <p:txBody>
          <a:bodyPr>
            <a:noAutofit/>
          </a:bodyPr>
          <a:lstStyle/>
          <a:p>
            <a:pPr>
              <a:lnSpc>
                <a:spcPct val="150000"/>
              </a:lnSpc>
              <a:buFont typeface="Wingdings" panose="05000000000000000000" pitchFamily="2" charset="2"/>
              <a:buChar char="Ø"/>
            </a:pPr>
            <a:r>
              <a:rPr lang="en-US" sz="1200" dirty="0"/>
              <a:t>Identify Duplicates</a:t>
            </a:r>
          </a:p>
          <a:p>
            <a:pPr>
              <a:lnSpc>
                <a:spcPct val="150000"/>
              </a:lnSpc>
              <a:buFont typeface="Wingdings" panose="05000000000000000000" pitchFamily="2" charset="2"/>
              <a:buChar char="Ø"/>
            </a:pPr>
            <a:endParaRPr lang="en-US" sz="2000" dirty="0">
              <a:solidFill>
                <a:schemeClr val="bg1"/>
              </a:solidFill>
            </a:endParaRPr>
          </a:p>
          <a:p>
            <a:pPr>
              <a:lnSpc>
                <a:spcPct val="150000"/>
              </a:lnSpc>
              <a:buFont typeface="Wingdings" panose="05000000000000000000" pitchFamily="2" charset="2"/>
              <a:buChar char="Ø"/>
            </a:pPr>
            <a:endParaRPr lang="en-US" sz="2000" dirty="0">
              <a:solidFill>
                <a:schemeClr val="bg1"/>
              </a:solidFill>
            </a:endParaRPr>
          </a:p>
          <a:p>
            <a:pPr>
              <a:buFont typeface="Wingdings" panose="05000000000000000000" pitchFamily="2" charset="2"/>
              <a:buChar char="Ø"/>
            </a:pPr>
            <a:r>
              <a:rPr lang="en-US" sz="1200" dirty="0"/>
              <a:t>Replace null </a:t>
            </a:r>
            <a:r>
              <a:rPr lang="en-US" sz="1200" dirty="0" err="1"/>
              <a:t>Traffic_Delay_Min</a:t>
            </a:r>
            <a:r>
              <a:rPr lang="en-US" sz="1200" dirty="0"/>
              <a:t> with the average delay for that route.  </a:t>
            </a:r>
            <a:r>
              <a:rPr lang="en-US" sz="2000" dirty="0">
                <a:solidFill>
                  <a:schemeClr val="bg1"/>
                </a:solidFill>
              </a:rPr>
              <a:t>Optimization</a:t>
            </a:r>
          </a:p>
        </p:txBody>
      </p:sp>
      <p:pic>
        <p:nvPicPr>
          <p:cNvPr id="1026" name="Picture 2" descr="Current logo (2024–)">
            <a:extLst>
              <a:ext uri="{FF2B5EF4-FFF2-40B4-BE49-F238E27FC236}">
                <a16:creationId xmlns:a16="http://schemas.microsoft.com/office/drawing/2014/main" id="{7A06F2F2-AEEE-27DA-18AB-49B5DED0D3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990A4857-0D86-1D6F-645F-A2170B121B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13EC2396-8CE7-AFFB-6A73-8427C812491E}"/>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11" name="Content Placeholder 10">
            <a:extLst>
              <a:ext uri="{FF2B5EF4-FFF2-40B4-BE49-F238E27FC236}">
                <a16:creationId xmlns:a16="http://schemas.microsoft.com/office/drawing/2014/main" id="{7150F2E4-1CA2-2072-A206-3A9D49FF972D}"/>
              </a:ext>
            </a:extLst>
          </p:cNvPr>
          <p:cNvPicPr>
            <a:picLocks noGrp="1" noChangeAspect="1"/>
          </p:cNvPicPr>
          <p:nvPr>
            <p:ph sz="half" idx="2"/>
          </p:nvPr>
        </p:nvPicPr>
        <p:blipFill>
          <a:blip r:embed="rId5"/>
          <a:stretch>
            <a:fillRect/>
          </a:stretch>
        </p:blipFill>
        <p:spPr>
          <a:xfrm>
            <a:off x="4905375" y="2603500"/>
            <a:ext cx="5734050" cy="1501775"/>
          </a:xfrm>
          <a:prstGeom prst="rect">
            <a:avLst/>
          </a:prstGeom>
        </p:spPr>
      </p:pic>
      <p:pic>
        <p:nvPicPr>
          <p:cNvPr id="14" name="Picture 13">
            <a:extLst>
              <a:ext uri="{FF2B5EF4-FFF2-40B4-BE49-F238E27FC236}">
                <a16:creationId xmlns:a16="http://schemas.microsoft.com/office/drawing/2014/main" id="{D0EBF055-2AB3-9F74-52F1-1EF638F200D0}"/>
              </a:ext>
            </a:extLst>
          </p:cNvPr>
          <p:cNvPicPr>
            <a:picLocks noChangeAspect="1"/>
          </p:cNvPicPr>
          <p:nvPr/>
        </p:nvPicPr>
        <p:blipFill>
          <a:blip r:embed="rId6"/>
          <a:stretch>
            <a:fillRect/>
          </a:stretch>
        </p:blipFill>
        <p:spPr>
          <a:xfrm>
            <a:off x="4905375" y="4190999"/>
            <a:ext cx="3762375" cy="1828801"/>
          </a:xfrm>
          <a:prstGeom prst="rect">
            <a:avLst/>
          </a:prstGeom>
        </p:spPr>
      </p:pic>
    </p:spTree>
    <p:extLst>
      <p:ext uri="{BB962C8B-B14F-4D97-AF65-F5344CB8AC3E}">
        <p14:creationId xmlns:p14="http://schemas.microsoft.com/office/powerpoint/2010/main" val="8799169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8FB87A2D-AEA7-6BC5-B456-A804C87D8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C8723-7656-4BE3-12C6-ACE111D3E6FA}"/>
              </a:ext>
            </a:extLst>
          </p:cNvPr>
          <p:cNvSpPr>
            <a:spLocks noGrp="1"/>
          </p:cNvSpPr>
          <p:nvPr>
            <p:ph type="title"/>
          </p:nvPr>
        </p:nvSpPr>
        <p:spPr>
          <a:xfrm>
            <a:off x="3037557" y="838199"/>
            <a:ext cx="6342438"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noAutofit/>
          </a:bodyPr>
          <a:lstStyle/>
          <a:p>
            <a:pPr algn="ctr"/>
            <a:r>
              <a:rPr lang="en-US" sz="2800" b="1" dirty="0">
                <a:solidFill>
                  <a:srgbClr val="FF9900"/>
                </a:solidFill>
                <a:latin typeface=" Amazon Ember"/>
                <a:cs typeface="Poppins" panose="020B0502040204020203" pitchFamily="2" charset="0"/>
              </a:rPr>
              <a:t>Task 1: Data Cleaning &amp; Preparation  </a:t>
            </a:r>
          </a:p>
        </p:txBody>
      </p:sp>
      <p:sp>
        <p:nvSpPr>
          <p:cNvPr id="13" name="Subtitle 12">
            <a:extLst>
              <a:ext uri="{FF2B5EF4-FFF2-40B4-BE49-F238E27FC236}">
                <a16:creationId xmlns:a16="http://schemas.microsoft.com/office/drawing/2014/main" id="{B71E4057-B7D6-3A23-128A-08F26F7A0797}"/>
              </a:ext>
            </a:extLst>
          </p:cNvPr>
          <p:cNvSpPr>
            <a:spLocks noGrp="1"/>
          </p:cNvSpPr>
          <p:nvPr>
            <p:ph sz="half" idx="1"/>
          </p:nvPr>
        </p:nvSpPr>
        <p:spPr>
          <a:xfrm>
            <a:off x="1154954" y="2603500"/>
            <a:ext cx="3683746" cy="3416301"/>
          </a:xfrm>
        </p:spPr>
        <p:txBody>
          <a:bodyPr>
            <a:noAutofit/>
          </a:bodyPr>
          <a:lstStyle/>
          <a:p>
            <a:pPr>
              <a:lnSpc>
                <a:spcPct val="150000"/>
              </a:lnSpc>
              <a:buFont typeface="Wingdings" panose="05000000000000000000" pitchFamily="2" charset="2"/>
              <a:buChar char="Ø"/>
            </a:pPr>
            <a:r>
              <a:rPr lang="en-US" sz="1200" dirty="0">
                <a:solidFill>
                  <a:schemeClr val="tx1"/>
                </a:solidFill>
              </a:rPr>
              <a:t>Convert date to YYYY-MM-DD</a:t>
            </a:r>
          </a:p>
          <a:p>
            <a:pPr>
              <a:lnSpc>
                <a:spcPct val="150000"/>
              </a:lnSpc>
              <a:buFont typeface="Wingdings" panose="05000000000000000000" pitchFamily="2" charset="2"/>
              <a:buChar char="Ø"/>
            </a:pPr>
            <a:endParaRPr lang="en-US" sz="2000" dirty="0">
              <a:solidFill>
                <a:schemeClr val="bg1"/>
              </a:solidFill>
            </a:endParaRPr>
          </a:p>
          <a:p>
            <a:pPr>
              <a:lnSpc>
                <a:spcPct val="150000"/>
              </a:lnSpc>
              <a:buFont typeface="Wingdings" panose="05000000000000000000" pitchFamily="2" charset="2"/>
              <a:buChar char="Ø"/>
            </a:pPr>
            <a:endParaRPr lang="en-US" sz="2000" dirty="0">
              <a:solidFill>
                <a:schemeClr val="bg1"/>
              </a:solidFill>
            </a:endParaRPr>
          </a:p>
          <a:p>
            <a:pPr>
              <a:buFont typeface="Wingdings" panose="05000000000000000000" pitchFamily="2" charset="2"/>
              <a:buChar char="Ø"/>
            </a:pPr>
            <a:r>
              <a:rPr lang="en-US" sz="1200" dirty="0"/>
              <a:t>Ensure that no </a:t>
            </a:r>
            <a:r>
              <a:rPr lang="en-US" sz="1200" dirty="0" err="1"/>
              <a:t>Actual_Delivery_Date</a:t>
            </a:r>
            <a:r>
              <a:rPr lang="en-US" sz="1200" dirty="0"/>
              <a:t> is before </a:t>
            </a:r>
            <a:r>
              <a:rPr lang="en-US" sz="1200" dirty="0" err="1"/>
              <a:t>Order_Date</a:t>
            </a:r>
            <a:r>
              <a:rPr lang="en-US" sz="1200" dirty="0"/>
              <a:t>.</a:t>
            </a:r>
          </a:p>
        </p:txBody>
      </p:sp>
      <p:pic>
        <p:nvPicPr>
          <p:cNvPr id="1026" name="Picture 2" descr="Current logo (2024–)">
            <a:extLst>
              <a:ext uri="{FF2B5EF4-FFF2-40B4-BE49-F238E27FC236}">
                <a16:creationId xmlns:a16="http://schemas.microsoft.com/office/drawing/2014/main" id="{D79467DE-A29B-A7FF-76EE-8E9AB7F3F9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9AD23EAB-7D6F-667E-FE16-3A46047168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2EC91A77-79EA-DBB7-3A6D-959ADBBA0929}"/>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8BCAB4C-912B-7EB6-B91F-31C035CE6A33}"/>
              </a:ext>
            </a:extLst>
          </p:cNvPr>
          <p:cNvPicPr>
            <a:picLocks noChangeAspect="1"/>
          </p:cNvPicPr>
          <p:nvPr/>
        </p:nvPicPr>
        <p:blipFill>
          <a:blip r:embed="rId5"/>
          <a:stretch>
            <a:fillRect/>
          </a:stretch>
        </p:blipFill>
        <p:spPr>
          <a:xfrm>
            <a:off x="4905375" y="2603500"/>
            <a:ext cx="6911939" cy="2597150"/>
          </a:xfrm>
          <a:prstGeom prst="rect">
            <a:avLst/>
          </a:prstGeom>
        </p:spPr>
      </p:pic>
      <p:pic>
        <p:nvPicPr>
          <p:cNvPr id="12" name="Picture 11">
            <a:extLst>
              <a:ext uri="{FF2B5EF4-FFF2-40B4-BE49-F238E27FC236}">
                <a16:creationId xmlns:a16="http://schemas.microsoft.com/office/drawing/2014/main" id="{C38163AB-14A7-0EA2-A292-19F023F231C9}"/>
              </a:ext>
            </a:extLst>
          </p:cNvPr>
          <p:cNvPicPr>
            <a:picLocks noChangeAspect="1"/>
          </p:cNvPicPr>
          <p:nvPr/>
        </p:nvPicPr>
        <p:blipFill>
          <a:blip r:embed="rId6"/>
          <a:stretch>
            <a:fillRect/>
          </a:stretch>
        </p:blipFill>
        <p:spPr>
          <a:xfrm>
            <a:off x="4838700" y="4166112"/>
            <a:ext cx="5281118" cy="1425063"/>
          </a:xfrm>
          <a:prstGeom prst="rect">
            <a:avLst/>
          </a:prstGeom>
        </p:spPr>
      </p:pic>
    </p:spTree>
    <p:extLst>
      <p:ext uri="{BB962C8B-B14F-4D97-AF65-F5344CB8AC3E}">
        <p14:creationId xmlns:p14="http://schemas.microsoft.com/office/powerpoint/2010/main" val="7857862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73A1DAFA-F8A5-714E-03BF-4C7BE2DF0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73EDC-E424-E39E-1677-19A243F2BE92}"/>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2: Delivery Delay Analysis</a:t>
            </a:r>
          </a:p>
        </p:txBody>
      </p:sp>
      <p:sp>
        <p:nvSpPr>
          <p:cNvPr id="13" name="Subtitle 12">
            <a:extLst>
              <a:ext uri="{FF2B5EF4-FFF2-40B4-BE49-F238E27FC236}">
                <a16:creationId xmlns:a16="http://schemas.microsoft.com/office/drawing/2014/main" id="{595D8175-F414-8082-9819-DC3799D39DDD}"/>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Calculate delivery delay (in days) for each order.</a:t>
            </a:r>
            <a:endParaRPr lang="en-US" sz="1200" dirty="0">
              <a:solidFill>
                <a:schemeClr val="tx1"/>
              </a:solidFill>
            </a:endParaRPr>
          </a:p>
          <a:p>
            <a:pPr>
              <a:lnSpc>
                <a:spcPct val="150000"/>
              </a:lnSpc>
              <a:buFont typeface="Wingdings" panose="05000000000000000000" pitchFamily="2" charset="2"/>
              <a:buChar char="Ø"/>
            </a:pPr>
            <a:endParaRPr lang="en-US" sz="2000" dirty="0">
              <a:solidFill>
                <a:schemeClr val="bg1"/>
              </a:solidFill>
            </a:endParaRPr>
          </a:p>
          <a:p>
            <a:pPr>
              <a:lnSpc>
                <a:spcPct val="150000"/>
              </a:lnSpc>
              <a:buFont typeface="Wingdings" panose="05000000000000000000" pitchFamily="2" charset="2"/>
              <a:buChar char="Ø"/>
            </a:pPr>
            <a:endParaRPr lang="en-US" sz="2000" dirty="0">
              <a:solidFill>
                <a:schemeClr val="bg1"/>
              </a:solidFill>
            </a:endParaRPr>
          </a:p>
          <a:p>
            <a:pPr>
              <a:lnSpc>
                <a:spcPct val="150000"/>
              </a:lnSpc>
              <a:buFont typeface="Wingdings" panose="05000000000000000000" pitchFamily="2" charset="2"/>
              <a:buChar char="Ø"/>
            </a:pPr>
            <a:r>
              <a:rPr lang="en-US" sz="1200" dirty="0"/>
              <a:t>Find Top 10 delayed routes based on average delay days.</a:t>
            </a:r>
          </a:p>
          <a:p>
            <a:pPr>
              <a:lnSpc>
                <a:spcPct val="150000"/>
              </a:lnSpc>
              <a:buFont typeface="Wingdings" panose="05000000000000000000" pitchFamily="2" charset="2"/>
              <a:buChar char="Ø"/>
            </a:pPr>
            <a:endParaRPr lang="en-US" sz="1200" dirty="0"/>
          </a:p>
        </p:txBody>
      </p:sp>
      <p:pic>
        <p:nvPicPr>
          <p:cNvPr id="1026" name="Picture 2" descr="Current logo (2024–)">
            <a:extLst>
              <a:ext uri="{FF2B5EF4-FFF2-40B4-BE49-F238E27FC236}">
                <a16:creationId xmlns:a16="http://schemas.microsoft.com/office/drawing/2014/main" id="{47909C8A-0957-0271-5500-5FC3D4EC7D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F942C87F-1DA4-02CE-ECD7-6929DD85D5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CAE4B3B5-25A5-29E2-C7A6-2C54045C8BD8}"/>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BEC92A23-2881-207F-8187-0BEA0F381B85}"/>
              </a:ext>
            </a:extLst>
          </p:cNvPr>
          <p:cNvPicPr>
            <a:picLocks noChangeAspect="1"/>
          </p:cNvPicPr>
          <p:nvPr/>
        </p:nvPicPr>
        <p:blipFill>
          <a:blip r:embed="rId5"/>
          <a:stretch>
            <a:fillRect/>
          </a:stretch>
        </p:blipFill>
        <p:spPr>
          <a:xfrm>
            <a:off x="1560026" y="2973404"/>
            <a:ext cx="4017887" cy="1265030"/>
          </a:xfrm>
          <a:prstGeom prst="rect">
            <a:avLst/>
          </a:prstGeom>
        </p:spPr>
      </p:pic>
      <p:pic>
        <p:nvPicPr>
          <p:cNvPr id="14" name="Picture 13">
            <a:extLst>
              <a:ext uri="{FF2B5EF4-FFF2-40B4-BE49-F238E27FC236}">
                <a16:creationId xmlns:a16="http://schemas.microsoft.com/office/drawing/2014/main" id="{D79E9B22-E3DB-35F5-DD8D-6C06EC1941B2}"/>
              </a:ext>
            </a:extLst>
          </p:cNvPr>
          <p:cNvPicPr>
            <a:picLocks noChangeAspect="1"/>
          </p:cNvPicPr>
          <p:nvPr/>
        </p:nvPicPr>
        <p:blipFill>
          <a:blip r:embed="rId6"/>
          <a:stretch>
            <a:fillRect/>
          </a:stretch>
        </p:blipFill>
        <p:spPr>
          <a:xfrm>
            <a:off x="5853113" y="2665587"/>
            <a:ext cx="1737511" cy="1646063"/>
          </a:xfrm>
          <a:prstGeom prst="rect">
            <a:avLst/>
          </a:prstGeom>
        </p:spPr>
      </p:pic>
      <p:graphicFrame>
        <p:nvGraphicFramePr>
          <p:cNvPr id="16" name="Chart 15">
            <a:extLst>
              <a:ext uri="{FF2B5EF4-FFF2-40B4-BE49-F238E27FC236}">
                <a16:creationId xmlns:a16="http://schemas.microsoft.com/office/drawing/2014/main" id="{271075D3-DE0F-E991-73F4-B60264F6F3FE}"/>
              </a:ext>
            </a:extLst>
          </p:cNvPr>
          <p:cNvGraphicFramePr/>
          <p:nvPr>
            <p:extLst>
              <p:ext uri="{D42A27DB-BD31-4B8C-83A1-F6EECF244321}">
                <p14:modId xmlns:p14="http://schemas.microsoft.com/office/powerpoint/2010/main" val="100665505"/>
              </p:ext>
            </p:extLst>
          </p:nvPr>
        </p:nvGraphicFramePr>
        <p:xfrm>
          <a:off x="8079971" y="2302631"/>
          <a:ext cx="3407704" cy="2078174"/>
        </p:xfrm>
        <a:graphic>
          <a:graphicData uri="http://schemas.openxmlformats.org/drawingml/2006/chart">
            <c:chart xmlns:c="http://schemas.openxmlformats.org/drawingml/2006/chart" xmlns:r="http://schemas.openxmlformats.org/officeDocument/2006/relationships" r:id="rId7"/>
          </a:graphicData>
        </a:graphic>
      </p:graphicFrame>
      <p:pic>
        <p:nvPicPr>
          <p:cNvPr id="18" name="Picture 17">
            <a:extLst>
              <a:ext uri="{FF2B5EF4-FFF2-40B4-BE49-F238E27FC236}">
                <a16:creationId xmlns:a16="http://schemas.microsoft.com/office/drawing/2014/main" id="{BB150BA9-9C40-781A-A7C9-F8B7494EF191}"/>
              </a:ext>
            </a:extLst>
          </p:cNvPr>
          <p:cNvPicPr>
            <a:picLocks noChangeAspect="1"/>
          </p:cNvPicPr>
          <p:nvPr/>
        </p:nvPicPr>
        <p:blipFill>
          <a:blip r:embed="rId8"/>
          <a:stretch>
            <a:fillRect/>
          </a:stretch>
        </p:blipFill>
        <p:spPr>
          <a:xfrm>
            <a:off x="5853113" y="4490181"/>
            <a:ext cx="4186433" cy="1920141"/>
          </a:xfrm>
          <a:prstGeom prst="rect">
            <a:avLst/>
          </a:prstGeom>
        </p:spPr>
      </p:pic>
      <p:pic>
        <p:nvPicPr>
          <p:cNvPr id="20" name="Picture 19">
            <a:extLst>
              <a:ext uri="{FF2B5EF4-FFF2-40B4-BE49-F238E27FC236}">
                <a16:creationId xmlns:a16="http://schemas.microsoft.com/office/drawing/2014/main" id="{C7998399-5512-66EF-7695-6C3E85B1AAF8}"/>
              </a:ext>
            </a:extLst>
          </p:cNvPr>
          <p:cNvPicPr>
            <a:picLocks noChangeAspect="1"/>
          </p:cNvPicPr>
          <p:nvPr/>
        </p:nvPicPr>
        <p:blipFill>
          <a:blip r:embed="rId9"/>
          <a:stretch>
            <a:fillRect/>
          </a:stretch>
        </p:blipFill>
        <p:spPr>
          <a:xfrm>
            <a:off x="1560026" y="4843118"/>
            <a:ext cx="3833192" cy="1624351"/>
          </a:xfrm>
          <a:prstGeom prst="rect">
            <a:avLst/>
          </a:prstGeom>
        </p:spPr>
      </p:pic>
    </p:spTree>
    <p:extLst>
      <p:ext uri="{BB962C8B-B14F-4D97-AF65-F5344CB8AC3E}">
        <p14:creationId xmlns:p14="http://schemas.microsoft.com/office/powerpoint/2010/main" val="38565560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2607789B-FC77-AD41-848B-891B91005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348414-2221-B8C9-383F-820184F018C3}"/>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2: Delivery Delay Analysis</a:t>
            </a:r>
          </a:p>
        </p:txBody>
      </p:sp>
      <p:sp>
        <p:nvSpPr>
          <p:cNvPr id="13" name="Subtitle 12">
            <a:extLst>
              <a:ext uri="{FF2B5EF4-FFF2-40B4-BE49-F238E27FC236}">
                <a16:creationId xmlns:a16="http://schemas.microsoft.com/office/drawing/2014/main" id="{6F910EC2-8CA3-6971-DEC3-8B5002155263}"/>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Use window functions to rank all orders by delay within each warehouse. </a:t>
            </a:r>
          </a:p>
          <a:p>
            <a:pPr>
              <a:lnSpc>
                <a:spcPct val="150000"/>
              </a:lnSpc>
              <a:buFont typeface="Wingdings" panose="05000000000000000000" pitchFamily="2" charset="2"/>
              <a:buChar char="Ø"/>
            </a:pPr>
            <a:endParaRPr lang="en-US" sz="1200" dirty="0">
              <a:solidFill>
                <a:schemeClr val="tx1"/>
              </a:solidFill>
            </a:endParaRPr>
          </a:p>
        </p:txBody>
      </p:sp>
      <p:pic>
        <p:nvPicPr>
          <p:cNvPr id="1026" name="Picture 2" descr="Current logo (2024–)">
            <a:extLst>
              <a:ext uri="{FF2B5EF4-FFF2-40B4-BE49-F238E27FC236}">
                <a16:creationId xmlns:a16="http://schemas.microsoft.com/office/drawing/2014/main" id="{CF39D698-3FDE-7C6B-1E2A-F36A34217C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2E25B3E4-B250-840D-FFBF-759F326FAD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B3B5F63C-B7D4-1899-44C4-326B5A2A83D3}"/>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C480D75-9B94-9DDD-0165-9B2FF39C92CC}"/>
              </a:ext>
            </a:extLst>
          </p:cNvPr>
          <p:cNvPicPr>
            <a:picLocks noChangeAspect="1"/>
          </p:cNvPicPr>
          <p:nvPr/>
        </p:nvPicPr>
        <p:blipFill>
          <a:blip r:embed="rId5"/>
          <a:stretch>
            <a:fillRect/>
          </a:stretch>
        </p:blipFill>
        <p:spPr>
          <a:xfrm>
            <a:off x="1507166" y="3309498"/>
            <a:ext cx="3238781" cy="3314987"/>
          </a:xfrm>
          <a:prstGeom prst="rect">
            <a:avLst/>
          </a:prstGeom>
        </p:spPr>
      </p:pic>
      <p:pic>
        <p:nvPicPr>
          <p:cNvPr id="24" name="Picture 23">
            <a:extLst>
              <a:ext uri="{FF2B5EF4-FFF2-40B4-BE49-F238E27FC236}">
                <a16:creationId xmlns:a16="http://schemas.microsoft.com/office/drawing/2014/main" id="{1E328EC0-A85E-E5E1-A7E5-CC9E07D01497}"/>
              </a:ext>
            </a:extLst>
          </p:cNvPr>
          <p:cNvPicPr>
            <a:picLocks noChangeAspect="1"/>
          </p:cNvPicPr>
          <p:nvPr/>
        </p:nvPicPr>
        <p:blipFill>
          <a:blip r:embed="rId6"/>
          <a:stretch>
            <a:fillRect/>
          </a:stretch>
        </p:blipFill>
        <p:spPr>
          <a:xfrm>
            <a:off x="6575752" y="2603500"/>
            <a:ext cx="3925708" cy="876376"/>
          </a:xfrm>
          <a:prstGeom prst="rect">
            <a:avLst/>
          </a:prstGeom>
        </p:spPr>
      </p:pic>
      <p:pic>
        <p:nvPicPr>
          <p:cNvPr id="26" name="Picture 25">
            <a:extLst>
              <a:ext uri="{FF2B5EF4-FFF2-40B4-BE49-F238E27FC236}">
                <a16:creationId xmlns:a16="http://schemas.microsoft.com/office/drawing/2014/main" id="{E6F028DC-4A6B-E65E-3356-3F7C6CB1721F}"/>
              </a:ext>
            </a:extLst>
          </p:cNvPr>
          <p:cNvPicPr>
            <a:picLocks noChangeAspect="1"/>
          </p:cNvPicPr>
          <p:nvPr/>
        </p:nvPicPr>
        <p:blipFill>
          <a:blip r:embed="rId7"/>
          <a:stretch>
            <a:fillRect/>
          </a:stretch>
        </p:blipFill>
        <p:spPr>
          <a:xfrm>
            <a:off x="6575752" y="3479876"/>
            <a:ext cx="3925708" cy="594412"/>
          </a:xfrm>
          <a:prstGeom prst="rect">
            <a:avLst/>
          </a:prstGeom>
        </p:spPr>
      </p:pic>
      <p:pic>
        <p:nvPicPr>
          <p:cNvPr id="28" name="Picture 27">
            <a:extLst>
              <a:ext uri="{FF2B5EF4-FFF2-40B4-BE49-F238E27FC236}">
                <a16:creationId xmlns:a16="http://schemas.microsoft.com/office/drawing/2014/main" id="{A4097049-B22B-C2E3-2C23-B24A6658168A}"/>
              </a:ext>
            </a:extLst>
          </p:cNvPr>
          <p:cNvPicPr>
            <a:picLocks noChangeAspect="1"/>
          </p:cNvPicPr>
          <p:nvPr/>
        </p:nvPicPr>
        <p:blipFill>
          <a:blip r:embed="rId8"/>
          <a:stretch>
            <a:fillRect/>
          </a:stretch>
        </p:blipFill>
        <p:spPr>
          <a:xfrm>
            <a:off x="6575752" y="4084560"/>
            <a:ext cx="3925708" cy="701101"/>
          </a:xfrm>
          <a:prstGeom prst="rect">
            <a:avLst/>
          </a:prstGeom>
        </p:spPr>
      </p:pic>
      <p:pic>
        <p:nvPicPr>
          <p:cNvPr id="30" name="Picture 29">
            <a:extLst>
              <a:ext uri="{FF2B5EF4-FFF2-40B4-BE49-F238E27FC236}">
                <a16:creationId xmlns:a16="http://schemas.microsoft.com/office/drawing/2014/main" id="{68C2D987-1F86-B0DE-BDF2-3A5D68AEB5F4}"/>
              </a:ext>
            </a:extLst>
          </p:cNvPr>
          <p:cNvPicPr>
            <a:picLocks noChangeAspect="1"/>
          </p:cNvPicPr>
          <p:nvPr/>
        </p:nvPicPr>
        <p:blipFill>
          <a:blip r:embed="rId9"/>
          <a:stretch>
            <a:fillRect/>
          </a:stretch>
        </p:blipFill>
        <p:spPr>
          <a:xfrm>
            <a:off x="6581022" y="4785661"/>
            <a:ext cx="3920438" cy="320068"/>
          </a:xfrm>
          <a:prstGeom prst="rect">
            <a:avLst/>
          </a:prstGeom>
        </p:spPr>
      </p:pic>
      <p:pic>
        <p:nvPicPr>
          <p:cNvPr id="1024" name="Picture 1023">
            <a:extLst>
              <a:ext uri="{FF2B5EF4-FFF2-40B4-BE49-F238E27FC236}">
                <a16:creationId xmlns:a16="http://schemas.microsoft.com/office/drawing/2014/main" id="{276DCD2D-7E77-11BF-3541-7D89BEFA2A30}"/>
              </a:ext>
            </a:extLst>
          </p:cNvPr>
          <p:cNvPicPr>
            <a:picLocks noChangeAspect="1"/>
          </p:cNvPicPr>
          <p:nvPr/>
        </p:nvPicPr>
        <p:blipFill>
          <a:blip r:embed="rId10"/>
          <a:stretch>
            <a:fillRect/>
          </a:stretch>
        </p:blipFill>
        <p:spPr>
          <a:xfrm>
            <a:off x="6575752" y="5078138"/>
            <a:ext cx="3930978" cy="670618"/>
          </a:xfrm>
          <a:prstGeom prst="rect">
            <a:avLst/>
          </a:prstGeom>
        </p:spPr>
      </p:pic>
      <p:pic>
        <p:nvPicPr>
          <p:cNvPr id="1027" name="Picture 1026">
            <a:extLst>
              <a:ext uri="{FF2B5EF4-FFF2-40B4-BE49-F238E27FC236}">
                <a16:creationId xmlns:a16="http://schemas.microsoft.com/office/drawing/2014/main" id="{C81D9C89-3EF8-FC81-5032-39385E641F2D}"/>
              </a:ext>
            </a:extLst>
          </p:cNvPr>
          <p:cNvPicPr>
            <a:picLocks noChangeAspect="1"/>
          </p:cNvPicPr>
          <p:nvPr/>
        </p:nvPicPr>
        <p:blipFill>
          <a:blip r:embed="rId11"/>
          <a:stretch>
            <a:fillRect/>
          </a:stretch>
        </p:blipFill>
        <p:spPr>
          <a:xfrm>
            <a:off x="6575752" y="5739931"/>
            <a:ext cx="3930978" cy="428685"/>
          </a:xfrm>
          <a:prstGeom prst="rect">
            <a:avLst/>
          </a:prstGeom>
        </p:spPr>
      </p:pic>
    </p:spTree>
    <p:extLst>
      <p:ext uri="{BB962C8B-B14F-4D97-AF65-F5344CB8AC3E}">
        <p14:creationId xmlns:p14="http://schemas.microsoft.com/office/powerpoint/2010/main" val="7811247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E21FCD7F-0B48-9E41-0177-6970073A3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2586F-7A5F-E929-62D4-D3D454AA39DF}"/>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3: Route Optimization Insights</a:t>
            </a:r>
          </a:p>
        </p:txBody>
      </p:sp>
      <p:sp>
        <p:nvSpPr>
          <p:cNvPr id="13" name="Subtitle 12">
            <a:extLst>
              <a:ext uri="{FF2B5EF4-FFF2-40B4-BE49-F238E27FC236}">
                <a16:creationId xmlns:a16="http://schemas.microsoft.com/office/drawing/2014/main" id="{4636B560-6912-C4FC-DF78-01258D74A452}"/>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For each route, calculate: </a:t>
            </a:r>
          </a:p>
          <a:p>
            <a:pPr lvl="1">
              <a:lnSpc>
                <a:spcPct val="150000"/>
              </a:lnSpc>
              <a:buFont typeface="Arial" panose="020B0604020202020204" pitchFamily="34" charset="0"/>
              <a:buChar char="•"/>
            </a:pPr>
            <a:r>
              <a:rPr lang="en-US" sz="1000" dirty="0"/>
              <a:t>Average delivery time (in days). </a:t>
            </a:r>
          </a:p>
          <a:p>
            <a:pPr lvl="1">
              <a:lnSpc>
                <a:spcPct val="150000"/>
              </a:lnSpc>
              <a:buFont typeface="+mj-lt"/>
              <a:buAutoNum type="arabicPeriod"/>
            </a:pPr>
            <a:endParaRPr lang="en-US" sz="1000" dirty="0"/>
          </a:p>
        </p:txBody>
      </p:sp>
      <p:pic>
        <p:nvPicPr>
          <p:cNvPr id="1026" name="Picture 2" descr="Current logo (2024–)">
            <a:extLst>
              <a:ext uri="{FF2B5EF4-FFF2-40B4-BE49-F238E27FC236}">
                <a16:creationId xmlns:a16="http://schemas.microsoft.com/office/drawing/2014/main" id="{BEBE202A-830C-0A2D-9DE7-7BA1185221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89EED537-17B7-00C4-4C42-5D5E01A281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4F9CE524-81AA-AD32-B849-CFDF5609D43B}"/>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9EC6E606-D8A0-3568-46F6-AF67FB0B8CC8}"/>
              </a:ext>
            </a:extLst>
          </p:cNvPr>
          <p:cNvPicPr>
            <a:picLocks noChangeAspect="1"/>
          </p:cNvPicPr>
          <p:nvPr/>
        </p:nvPicPr>
        <p:blipFill>
          <a:blip r:embed="rId5"/>
          <a:stretch>
            <a:fillRect/>
          </a:stretch>
        </p:blipFill>
        <p:spPr>
          <a:xfrm>
            <a:off x="1154954" y="3429000"/>
            <a:ext cx="4472848" cy="2384927"/>
          </a:xfrm>
          <a:prstGeom prst="rect">
            <a:avLst/>
          </a:prstGeom>
        </p:spPr>
      </p:pic>
      <p:pic>
        <p:nvPicPr>
          <p:cNvPr id="11" name="Picture 10">
            <a:extLst>
              <a:ext uri="{FF2B5EF4-FFF2-40B4-BE49-F238E27FC236}">
                <a16:creationId xmlns:a16="http://schemas.microsoft.com/office/drawing/2014/main" id="{AF93B2D8-BEA9-A872-8233-F3A727D3895B}"/>
              </a:ext>
            </a:extLst>
          </p:cNvPr>
          <p:cNvPicPr>
            <a:picLocks noChangeAspect="1"/>
          </p:cNvPicPr>
          <p:nvPr/>
        </p:nvPicPr>
        <p:blipFill>
          <a:blip r:embed="rId6"/>
          <a:stretch>
            <a:fillRect/>
          </a:stretch>
        </p:blipFill>
        <p:spPr>
          <a:xfrm>
            <a:off x="5982986" y="2603500"/>
            <a:ext cx="4292230" cy="2939459"/>
          </a:xfrm>
          <a:prstGeom prst="rect">
            <a:avLst/>
          </a:prstGeom>
        </p:spPr>
      </p:pic>
    </p:spTree>
    <p:extLst>
      <p:ext uri="{BB962C8B-B14F-4D97-AF65-F5344CB8AC3E}">
        <p14:creationId xmlns:p14="http://schemas.microsoft.com/office/powerpoint/2010/main" val="1574975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D99CE5E1-A347-2615-04A7-027A3FBA1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1C0B0-7FA7-B5A2-8715-46A000A8787A}"/>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3: Route Optimization Insights</a:t>
            </a:r>
          </a:p>
        </p:txBody>
      </p:sp>
      <p:sp>
        <p:nvSpPr>
          <p:cNvPr id="13" name="Subtitle 12">
            <a:extLst>
              <a:ext uri="{FF2B5EF4-FFF2-40B4-BE49-F238E27FC236}">
                <a16:creationId xmlns:a16="http://schemas.microsoft.com/office/drawing/2014/main" id="{2B320476-3A50-D0CE-54E6-88396222CBD4}"/>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For each route, calculate: </a:t>
            </a:r>
          </a:p>
          <a:p>
            <a:pPr lvl="1">
              <a:lnSpc>
                <a:spcPct val="150000"/>
              </a:lnSpc>
              <a:buFont typeface="Arial" panose="020B0604020202020204" pitchFamily="34" charset="0"/>
              <a:buChar char="•"/>
            </a:pPr>
            <a:r>
              <a:rPr lang="en-US" sz="1000" dirty="0"/>
              <a:t>Average traffic delay.</a:t>
            </a:r>
          </a:p>
          <a:p>
            <a:pPr lvl="1">
              <a:lnSpc>
                <a:spcPct val="150000"/>
              </a:lnSpc>
              <a:buFont typeface="Arial" panose="020B0604020202020204" pitchFamily="34" charset="0"/>
              <a:buChar char="•"/>
            </a:pPr>
            <a:endParaRPr lang="en-US" sz="1000" dirty="0"/>
          </a:p>
          <a:p>
            <a:pPr lvl="1">
              <a:lnSpc>
                <a:spcPct val="150000"/>
              </a:lnSpc>
              <a:buFont typeface="Arial" panose="020B0604020202020204" pitchFamily="34" charset="0"/>
              <a:buChar char="•"/>
            </a:pPr>
            <a:endParaRPr lang="en-US" sz="1000" dirty="0"/>
          </a:p>
          <a:p>
            <a:pPr lvl="1">
              <a:lnSpc>
                <a:spcPct val="150000"/>
              </a:lnSpc>
              <a:buFont typeface="Arial" panose="020B0604020202020204" pitchFamily="34" charset="0"/>
              <a:buChar char="•"/>
            </a:pPr>
            <a:endParaRPr lang="en-US" sz="1000" dirty="0"/>
          </a:p>
          <a:p>
            <a:pPr lvl="1">
              <a:lnSpc>
                <a:spcPct val="150000"/>
              </a:lnSpc>
              <a:buFont typeface="Arial" panose="020B0604020202020204" pitchFamily="34" charset="0"/>
              <a:buChar char="•"/>
            </a:pPr>
            <a:r>
              <a:rPr lang="en-US" sz="1000" dirty="0"/>
              <a:t>Distance-to-time efficiency ratio: </a:t>
            </a:r>
            <a:r>
              <a:rPr lang="en-US" sz="1000" dirty="0" err="1"/>
              <a:t>Distance_KM</a:t>
            </a:r>
            <a:r>
              <a:rPr lang="en-US" sz="1000" dirty="0"/>
              <a:t> / </a:t>
            </a:r>
            <a:r>
              <a:rPr lang="en-US" sz="1000" dirty="0" err="1"/>
              <a:t>Average_Travel_Time_Min</a:t>
            </a:r>
            <a:r>
              <a:rPr lang="en-US" sz="1000" dirty="0"/>
              <a:t>.</a:t>
            </a:r>
          </a:p>
        </p:txBody>
      </p:sp>
      <p:pic>
        <p:nvPicPr>
          <p:cNvPr id="1026" name="Picture 2" descr="Current logo (2024–)">
            <a:extLst>
              <a:ext uri="{FF2B5EF4-FFF2-40B4-BE49-F238E27FC236}">
                <a16:creationId xmlns:a16="http://schemas.microsoft.com/office/drawing/2014/main" id="{66C2DD49-0584-0337-485D-B59B23FBAA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CA4DE1B3-65C9-2340-58B5-A9B54A17F8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8F951F4F-CAAA-4E53-E142-BEC35ACDFD13}"/>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51FD84EA-E01F-9FD3-5CD9-AA41A9905DC8}"/>
              </a:ext>
            </a:extLst>
          </p:cNvPr>
          <p:cNvPicPr>
            <a:picLocks noChangeAspect="1"/>
          </p:cNvPicPr>
          <p:nvPr/>
        </p:nvPicPr>
        <p:blipFill>
          <a:blip r:embed="rId5"/>
          <a:stretch>
            <a:fillRect/>
          </a:stretch>
        </p:blipFill>
        <p:spPr>
          <a:xfrm>
            <a:off x="5982986" y="2603500"/>
            <a:ext cx="4490193" cy="1798812"/>
          </a:xfrm>
          <a:prstGeom prst="rect">
            <a:avLst/>
          </a:prstGeom>
        </p:spPr>
      </p:pic>
      <p:pic>
        <p:nvPicPr>
          <p:cNvPr id="9" name="Picture 8">
            <a:extLst>
              <a:ext uri="{FF2B5EF4-FFF2-40B4-BE49-F238E27FC236}">
                <a16:creationId xmlns:a16="http://schemas.microsoft.com/office/drawing/2014/main" id="{A7350CB0-F0BB-E0BF-5282-67278168EB0B}"/>
              </a:ext>
            </a:extLst>
          </p:cNvPr>
          <p:cNvPicPr>
            <a:picLocks noChangeAspect="1"/>
          </p:cNvPicPr>
          <p:nvPr/>
        </p:nvPicPr>
        <p:blipFill>
          <a:blip r:embed="rId6"/>
          <a:stretch>
            <a:fillRect/>
          </a:stretch>
        </p:blipFill>
        <p:spPr>
          <a:xfrm>
            <a:off x="5982985" y="4468653"/>
            <a:ext cx="4490193" cy="1836579"/>
          </a:xfrm>
          <a:prstGeom prst="rect">
            <a:avLst/>
          </a:prstGeom>
        </p:spPr>
      </p:pic>
      <p:pic>
        <p:nvPicPr>
          <p:cNvPr id="6" name="Picture 5">
            <a:extLst>
              <a:ext uri="{FF2B5EF4-FFF2-40B4-BE49-F238E27FC236}">
                <a16:creationId xmlns:a16="http://schemas.microsoft.com/office/drawing/2014/main" id="{60621C76-2946-396E-073C-543457E992D4}"/>
              </a:ext>
            </a:extLst>
          </p:cNvPr>
          <p:cNvPicPr>
            <a:picLocks noChangeAspect="1"/>
          </p:cNvPicPr>
          <p:nvPr/>
        </p:nvPicPr>
        <p:blipFill>
          <a:blip r:embed="rId7"/>
          <a:stretch>
            <a:fillRect/>
          </a:stretch>
        </p:blipFill>
        <p:spPr>
          <a:xfrm>
            <a:off x="1154954" y="3362659"/>
            <a:ext cx="4313294" cy="1039653"/>
          </a:xfrm>
          <a:prstGeom prst="rect">
            <a:avLst/>
          </a:prstGeom>
        </p:spPr>
      </p:pic>
      <p:pic>
        <p:nvPicPr>
          <p:cNvPr id="10" name="Picture 9">
            <a:extLst>
              <a:ext uri="{FF2B5EF4-FFF2-40B4-BE49-F238E27FC236}">
                <a16:creationId xmlns:a16="http://schemas.microsoft.com/office/drawing/2014/main" id="{6F0B93C2-1D04-0121-294C-581333E7EA00}"/>
              </a:ext>
            </a:extLst>
          </p:cNvPr>
          <p:cNvPicPr>
            <a:picLocks noChangeAspect="1"/>
          </p:cNvPicPr>
          <p:nvPr/>
        </p:nvPicPr>
        <p:blipFill>
          <a:blip r:embed="rId8"/>
          <a:stretch>
            <a:fillRect/>
          </a:stretch>
        </p:blipFill>
        <p:spPr>
          <a:xfrm>
            <a:off x="1154954" y="4982961"/>
            <a:ext cx="4740051" cy="1179555"/>
          </a:xfrm>
          <a:prstGeom prst="rect">
            <a:avLst/>
          </a:prstGeom>
        </p:spPr>
      </p:pic>
    </p:spTree>
    <p:extLst>
      <p:ext uri="{BB962C8B-B14F-4D97-AF65-F5344CB8AC3E}">
        <p14:creationId xmlns:p14="http://schemas.microsoft.com/office/powerpoint/2010/main" val="39344855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774DED90-D4A6-273B-3762-12282E572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45230-3E93-4FE6-AAAA-5065A71FBECE}"/>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3: Route Optimization Insights</a:t>
            </a:r>
          </a:p>
        </p:txBody>
      </p:sp>
      <p:sp>
        <p:nvSpPr>
          <p:cNvPr id="13" name="Subtitle 12">
            <a:extLst>
              <a:ext uri="{FF2B5EF4-FFF2-40B4-BE49-F238E27FC236}">
                <a16:creationId xmlns:a16="http://schemas.microsoft.com/office/drawing/2014/main" id="{4EBEBEF8-85E5-CF88-D23B-1E0BF6853572}"/>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Identify 3 routes with the worst efficiency ratio. </a:t>
            </a:r>
          </a:p>
          <a:p>
            <a:pPr>
              <a:lnSpc>
                <a:spcPct val="150000"/>
              </a:lnSpc>
              <a:buFont typeface="Wingdings" panose="05000000000000000000" pitchFamily="2" charset="2"/>
              <a:buChar char="Ø"/>
            </a:pPr>
            <a:endParaRPr lang="en-US" sz="1200" dirty="0"/>
          </a:p>
          <a:p>
            <a:pPr>
              <a:lnSpc>
                <a:spcPct val="150000"/>
              </a:lnSpc>
              <a:buFont typeface="Wingdings" panose="05000000000000000000" pitchFamily="2" charset="2"/>
              <a:buChar char="Ø"/>
            </a:pPr>
            <a:endParaRPr lang="en-US" sz="1200" dirty="0"/>
          </a:p>
          <a:p>
            <a:pPr>
              <a:lnSpc>
                <a:spcPct val="150000"/>
              </a:lnSpc>
              <a:buFont typeface="Wingdings" panose="05000000000000000000" pitchFamily="2" charset="2"/>
              <a:buChar char="Ø"/>
            </a:pPr>
            <a:endParaRPr lang="en-US" sz="1200" dirty="0"/>
          </a:p>
          <a:p>
            <a:pPr>
              <a:lnSpc>
                <a:spcPct val="150000"/>
              </a:lnSpc>
              <a:buFont typeface="Wingdings" panose="05000000000000000000" pitchFamily="2" charset="2"/>
              <a:buChar char="Ø"/>
            </a:pPr>
            <a:endParaRPr lang="en-US" sz="1200" dirty="0"/>
          </a:p>
          <a:p>
            <a:pPr marL="0" indent="0">
              <a:lnSpc>
                <a:spcPct val="150000"/>
              </a:lnSpc>
              <a:buNone/>
            </a:pPr>
            <a:endParaRPr lang="en-US" sz="1200" dirty="0"/>
          </a:p>
        </p:txBody>
      </p:sp>
      <p:pic>
        <p:nvPicPr>
          <p:cNvPr id="1026" name="Picture 2" descr="Current logo (2024–)">
            <a:extLst>
              <a:ext uri="{FF2B5EF4-FFF2-40B4-BE49-F238E27FC236}">
                <a16:creationId xmlns:a16="http://schemas.microsoft.com/office/drawing/2014/main" id="{7B58D8B2-B3DA-7A24-9366-019D9D996F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0BB54249-0090-84AE-89D0-C7EBDCC274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AE3F8F06-7152-EDD3-50F0-A73803CC5668}"/>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FB14994-0AEB-306C-0AF9-BAA4ED9CB4FB}"/>
              </a:ext>
            </a:extLst>
          </p:cNvPr>
          <p:cNvPicPr>
            <a:picLocks noChangeAspect="1"/>
          </p:cNvPicPr>
          <p:nvPr/>
        </p:nvPicPr>
        <p:blipFill>
          <a:blip r:embed="rId5"/>
          <a:stretch>
            <a:fillRect/>
          </a:stretch>
        </p:blipFill>
        <p:spPr>
          <a:xfrm>
            <a:off x="1165433" y="3044006"/>
            <a:ext cx="4930567" cy="1452580"/>
          </a:xfrm>
          <a:prstGeom prst="rect">
            <a:avLst/>
          </a:prstGeom>
        </p:spPr>
      </p:pic>
      <p:pic>
        <p:nvPicPr>
          <p:cNvPr id="9" name="Picture 8">
            <a:extLst>
              <a:ext uri="{FF2B5EF4-FFF2-40B4-BE49-F238E27FC236}">
                <a16:creationId xmlns:a16="http://schemas.microsoft.com/office/drawing/2014/main" id="{792FACCD-DBE0-9F18-A050-CF7FAAB45CF2}"/>
              </a:ext>
            </a:extLst>
          </p:cNvPr>
          <p:cNvPicPr>
            <a:picLocks noChangeAspect="1"/>
          </p:cNvPicPr>
          <p:nvPr/>
        </p:nvPicPr>
        <p:blipFill>
          <a:blip r:embed="rId6"/>
          <a:stretch>
            <a:fillRect/>
          </a:stretch>
        </p:blipFill>
        <p:spPr>
          <a:xfrm>
            <a:off x="6209016" y="2600913"/>
            <a:ext cx="3932274" cy="1292321"/>
          </a:xfrm>
          <a:prstGeom prst="rect">
            <a:avLst/>
          </a:prstGeom>
        </p:spPr>
      </p:pic>
    </p:spTree>
    <p:extLst>
      <p:ext uri="{BB962C8B-B14F-4D97-AF65-F5344CB8AC3E}">
        <p14:creationId xmlns:p14="http://schemas.microsoft.com/office/powerpoint/2010/main" val="2946862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5BB09692-FA24-B677-657A-1E68C834B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F79CFD-BFBC-435E-A9F8-3FC2B06DD48C}"/>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3: Route Optimization Insights</a:t>
            </a:r>
          </a:p>
        </p:txBody>
      </p:sp>
      <p:sp>
        <p:nvSpPr>
          <p:cNvPr id="13" name="Subtitle 12">
            <a:extLst>
              <a:ext uri="{FF2B5EF4-FFF2-40B4-BE49-F238E27FC236}">
                <a16:creationId xmlns:a16="http://schemas.microsoft.com/office/drawing/2014/main" id="{6115172D-78A9-3828-30FC-8F6D58317BE5}"/>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Find routes with &gt;20% delayed shipments.</a:t>
            </a:r>
          </a:p>
          <a:p>
            <a:pPr marL="0" indent="0">
              <a:lnSpc>
                <a:spcPct val="150000"/>
              </a:lnSpc>
              <a:buNone/>
            </a:pPr>
            <a:r>
              <a:rPr lang="en-US" sz="1200" dirty="0"/>
              <a:t> </a:t>
            </a:r>
          </a:p>
        </p:txBody>
      </p:sp>
      <p:pic>
        <p:nvPicPr>
          <p:cNvPr id="1026" name="Picture 2" descr="Current logo (2024–)">
            <a:extLst>
              <a:ext uri="{FF2B5EF4-FFF2-40B4-BE49-F238E27FC236}">
                <a16:creationId xmlns:a16="http://schemas.microsoft.com/office/drawing/2014/main" id="{726BDDC0-A14B-0FD5-53F7-F035A2E00C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D0272480-668C-87D0-FE33-80B735A6A3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C6FA9B83-1407-C510-E61A-DF44AA4DEFCB}"/>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2429B257-E6AA-2A38-A022-DA72527DE743}"/>
              </a:ext>
            </a:extLst>
          </p:cNvPr>
          <p:cNvPicPr>
            <a:picLocks noChangeAspect="1"/>
          </p:cNvPicPr>
          <p:nvPr/>
        </p:nvPicPr>
        <p:blipFill>
          <a:blip r:embed="rId5"/>
          <a:stretch>
            <a:fillRect/>
          </a:stretch>
        </p:blipFill>
        <p:spPr>
          <a:xfrm>
            <a:off x="1154954" y="2871418"/>
            <a:ext cx="5349704" cy="1722519"/>
          </a:xfrm>
          <a:prstGeom prst="rect">
            <a:avLst/>
          </a:prstGeom>
        </p:spPr>
      </p:pic>
      <p:pic>
        <p:nvPicPr>
          <p:cNvPr id="9" name="Picture 8">
            <a:extLst>
              <a:ext uri="{FF2B5EF4-FFF2-40B4-BE49-F238E27FC236}">
                <a16:creationId xmlns:a16="http://schemas.microsoft.com/office/drawing/2014/main" id="{829D7395-F27D-2DDC-556D-6332B718F531}"/>
              </a:ext>
            </a:extLst>
          </p:cNvPr>
          <p:cNvPicPr>
            <a:picLocks noChangeAspect="1"/>
          </p:cNvPicPr>
          <p:nvPr/>
        </p:nvPicPr>
        <p:blipFill>
          <a:blip r:embed="rId6"/>
          <a:stretch>
            <a:fillRect/>
          </a:stretch>
        </p:blipFill>
        <p:spPr>
          <a:xfrm>
            <a:off x="1154954" y="4593937"/>
            <a:ext cx="5105842" cy="1722515"/>
          </a:xfrm>
          <a:prstGeom prst="rect">
            <a:avLst/>
          </a:prstGeom>
        </p:spPr>
      </p:pic>
      <p:pic>
        <p:nvPicPr>
          <p:cNvPr id="12" name="Picture 11">
            <a:extLst>
              <a:ext uri="{FF2B5EF4-FFF2-40B4-BE49-F238E27FC236}">
                <a16:creationId xmlns:a16="http://schemas.microsoft.com/office/drawing/2014/main" id="{24BD5A24-2D3C-8720-B4B1-F6B5A1E2E6DF}"/>
              </a:ext>
            </a:extLst>
          </p:cNvPr>
          <p:cNvPicPr>
            <a:picLocks noChangeAspect="1"/>
          </p:cNvPicPr>
          <p:nvPr/>
        </p:nvPicPr>
        <p:blipFill>
          <a:blip r:embed="rId7"/>
          <a:stretch>
            <a:fillRect/>
          </a:stretch>
        </p:blipFill>
        <p:spPr>
          <a:xfrm>
            <a:off x="6586850" y="2603500"/>
            <a:ext cx="4216268" cy="1806097"/>
          </a:xfrm>
          <a:prstGeom prst="rect">
            <a:avLst/>
          </a:prstGeom>
        </p:spPr>
      </p:pic>
    </p:spTree>
    <p:extLst>
      <p:ext uri="{BB962C8B-B14F-4D97-AF65-F5344CB8AC3E}">
        <p14:creationId xmlns:p14="http://schemas.microsoft.com/office/powerpoint/2010/main" val="2815152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9798AE85-6B86-840F-B311-29592AE09D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CF98D-0F04-6045-2C70-D4EE794C16AA}"/>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3: Route Optimization Insights</a:t>
            </a:r>
          </a:p>
        </p:txBody>
      </p:sp>
      <p:sp>
        <p:nvSpPr>
          <p:cNvPr id="13" name="Subtitle 12">
            <a:extLst>
              <a:ext uri="{FF2B5EF4-FFF2-40B4-BE49-F238E27FC236}">
                <a16:creationId xmlns:a16="http://schemas.microsoft.com/office/drawing/2014/main" id="{18EC860B-6367-BB9A-EC20-FBCDD7557E01}"/>
              </a:ext>
            </a:extLst>
          </p:cNvPr>
          <p:cNvSpPr>
            <a:spLocks noGrp="1"/>
          </p:cNvSpPr>
          <p:nvPr>
            <p:ph sz="half" idx="1"/>
          </p:nvPr>
        </p:nvSpPr>
        <p:spPr>
          <a:xfrm>
            <a:off x="1154953" y="2603500"/>
            <a:ext cx="8960007" cy="3416301"/>
          </a:xfrm>
        </p:spPr>
        <p:txBody>
          <a:bodyPr>
            <a:noAutofit/>
          </a:bodyPr>
          <a:lstStyle/>
          <a:p>
            <a:pPr>
              <a:lnSpc>
                <a:spcPct val="150000"/>
              </a:lnSpc>
              <a:buFont typeface="Wingdings" panose="05000000000000000000" pitchFamily="2" charset="2"/>
              <a:buChar char="Ø"/>
            </a:pPr>
            <a:r>
              <a:rPr lang="en-US" sz="1200" dirty="0"/>
              <a:t> Recommend potential routes for optimization. </a:t>
            </a:r>
          </a:p>
          <a:p>
            <a:pPr lvl="1">
              <a:lnSpc>
                <a:spcPct val="150000"/>
              </a:lnSpc>
              <a:buFont typeface="Arial" panose="020B0604020202020204" pitchFamily="34" charset="0"/>
              <a:buChar char="•"/>
            </a:pPr>
            <a:r>
              <a:rPr lang="en-US" sz="1000" dirty="0"/>
              <a:t>On the basis of average delivery time (in days), we can consider </a:t>
            </a:r>
            <a:r>
              <a:rPr lang="en-US" sz="1000" dirty="0" err="1"/>
              <a:t>Route_IDs</a:t>
            </a:r>
            <a:r>
              <a:rPr lang="en-US" sz="1000" dirty="0"/>
              <a:t> like R015 and R017 for route rescheduling because these routes have higher delivery delay — if we take 6 days as a reasonable delivery buffer.</a:t>
            </a:r>
          </a:p>
          <a:p>
            <a:pPr lvl="1">
              <a:lnSpc>
                <a:spcPct val="150000"/>
              </a:lnSpc>
              <a:buFont typeface="Arial" panose="020B0604020202020204" pitchFamily="34" charset="0"/>
              <a:buChar char="•"/>
            </a:pPr>
            <a:r>
              <a:rPr lang="en-US" sz="1000" dirty="0"/>
              <a:t>Routes such as R016, R006, and R008 show lower efficiency ratios compared to other </a:t>
            </a:r>
            <a:r>
              <a:rPr lang="en-US" sz="1000" dirty="0" err="1"/>
              <a:t>routes.This</a:t>
            </a:r>
            <a:r>
              <a:rPr lang="en-US" sz="1000" dirty="0"/>
              <a:t> indicates that deliveries along these routes are taking longer travel times relative to their distance, which may be due to lower average driver speed or traffic congestion. These routes should be reviewed for possible re-optimization or schedule adjustments to improve delivery performance.</a:t>
            </a:r>
          </a:p>
          <a:p>
            <a:pPr lvl="1">
              <a:lnSpc>
                <a:spcPct val="150000"/>
              </a:lnSpc>
              <a:buFont typeface="Arial" panose="020B0604020202020204" pitchFamily="34" charset="0"/>
              <a:buChar char="•"/>
            </a:pPr>
            <a:r>
              <a:rPr lang="en-US" sz="1000" dirty="0"/>
              <a:t>All analyzed routes show over 20 % delayed shipments, indicating that delivery delays are not limited to specific routes but are a network-wide issue. Therefore, route re-optimization should be prioritized across the logistics network, focusing on factors such as traffic congestion, scheduling efficiency, and resource allocation to reduce overall delays.</a:t>
            </a:r>
          </a:p>
        </p:txBody>
      </p:sp>
      <p:pic>
        <p:nvPicPr>
          <p:cNvPr id="1026" name="Picture 2" descr="Current logo (2024–)">
            <a:extLst>
              <a:ext uri="{FF2B5EF4-FFF2-40B4-BE49-F238E27FC236}">
                <a16:creationId xmlns:a16="http://schemas.microsoft.com/office/drawing/2014/main" id="{73D446C1-9ABB-BEAA-785B-650267A37E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EC27F184-BC25-BC6F-1050-41932BA898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EFC20BD5-99E9-F5CF-4824-E643172E54BF}"/>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36691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8EAF956A-F6EE-CF18-FD61-DA5F49593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C1DDE-2B9C-F31F-4582-C5BD3B6D6CA7}"/>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4: Warehouse Performance</a:t>
            </a:r>
          </a:p>
        </p:txBody>
      </p:sp>
      <p:sp>
        <p:nvSpPr>
          <p:cNvPr id="13" name="Subtitle 12">
            <a:extLst>
              <a:ext uri="{FF2B5EF4-FFF2-40B4-BE49-F238E27FC236}">
                <a16:creationId xmlns:a16="http://schemas.microsoft.com/office/drawing/2014/main" id="{F0318723-9795-FFF7-93F5-DF22628E08DC}"/>
              </a:ext>
            </a:extLst>
          </p:cNvPr>
          <p:cNvSpPr>
            <a:spLocks noGrp="1"/>
          </p:cNvSpPr>
          <p:nvPr>
            <p:ph sz="half" idx="1"/>
          </p:nvPr>
        </p:nvSpPr>
        <p:spPr>
          <a:xfrm>
            <a:off x="1154954" y="2460396"/>
            <a:ext cx="4828032" cy="3559405"/>
          </a:xfrm>
        </p:spPr>
        <p:txBody>
          <a:bodyPr>
            <a:noAutofit/>
          </a:bodyPr>
          <a:lstStyle/>
          <a:p>
            <a:pPr>
              <a:lnSpc>
                <a:spcPct val="150000"/>
              </a:lnSpc>
              <a:buFont typeface="Wingdings" panose="05000000000000000000" pitchFamily="2" charset="2"/>
              <a:buChar char="Ø"/>
            </a:pPr>
            <a:r>
              <a:rPr lang="en-US" sz="1200" dirty="0"/>
              <a:t> Find the top 3 warehouses with the highest average processing time.</a:t>
            </a:r>
          </a:p>
          <a:p>
            <a:pPr>
              <a:lnSpc>
                <a:spcPct val="150000"/>
              </a:lnSpc>
              <a:buFont typeface="Wingdings" panose="05000000000000000000" pitchFamily="2" charset="2"/>
              <a:buChar char="Ø"/>
            </a:pPr>
            <a:endParaRPr lang="en-US" sz="1200" dirty="0"/>
          </a:p>
          <a:p>
            <a:pPr marL="0" indent="0">
              <a:lnSpc>
                <a:spcPct val="150000"/>
              </a:lnSpc>
              <a:buNone/>
            </a:pPr>
            <a:endParaRPr lang="en-US" sz="1200" dirty="0"/>
          </a:p>
          <a:p>
            <a:pPr>
              <a:lnSpc>
                <a:spcPct val="150000"/>
              </a:lnSpc>
              <a:buFont typeface="Wingdings" panose="05000000000000000000" pitchFamily="2" charset="2"/>
              <a:buChar char="Ø"/>
            </a:pPr>
            <a:r>
              <a:rPr lang="en-US" sz="1200" dirty="0"/>
              <a:t>Calculate total vs. delayed shipments for each warehouse. </a:t>
            </a:r>
          </a:p>
          <a:p>
            <a:pPr>
              <a:lnSpc>
                <a:spcPct val="150000"/>
              </a:lnSpc>
              <a:buFont typeface="Wingdings" panose="05000000000000000000" pitchFamily="2" charset="2"/>
              <a:buChar char="Ø"/>
            </a:pPr>
            <a:endParaRPr lang="en-US" sz="1200" dirty="0"/>
          </a:p>
        </p:txBody>
      </p:sp>
      <p:pic>
        <p:nvPicPr>
          <p:cNvPr id="1026" name="Picture 2" descr="Current logo (2024–)">
            <a:extLst>
              <a:ext uri="{FF2B5EF4-FFF2-40B4-BE49-F238E27FC236}">
                <a16:creationId xmlns:a16="http://schemas.microsoft.com/office/drawing/2014/main" id="{4D979777-2CBB-7ABE-F78C-00D7F3770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8918CE3E-7EDD-3343-931C-770E891A6B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24E34C64-ED0D-824A-3BAB-A37DD3A091AE}"/>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2BCECC4-7D96-5617-EDC0-F19AB727B27E}"/>
              </a:ext>
            </a:extLst>
          </p:cNvPr>
          <p:cNvPicPr>
            <a:picLocks noChangeAspect="1"/>
          </p:cNvPicPr>
          <p:nvPr/>
        </p:nvPicPr>
        <p:blipFill>
          <a:blip r:embed="rId5"/>
          <a:stretch>
            <a:fillRect/>
          </a:stretch>
        </p:blipFill>
        <p:spPr>
          <a:xfrm>
            <a:off x="6275108" y="2603507"/>
            <a:ext cx="3641889" cy="825493"/>
          </a:xfrm>
          <a:prstGeom prst="rect">
            <a:avLst/>
          </a:prstGeom>
        </p:spPr>
      </p:pic>
      <p:pic>
        <p:nvPicPr>
          <p:cNvPr id="7" name="Picture 6">
            <a:extLst>
              <a:ext uri="{FF2B5EF4-FFF2-40B4-BE49-F238E27FC236}">
                <a16:creationId xmlns:a16="http://schemas.microsoft.com/office/drawing/2014/main" id="{924953B3-8D87-B6DF-BBD7-4460BE92BD84}"/>
              </a:ext>
            </a:extLst>
          </p:cNvPr>
          <p:cNvPicPr>
            <a:picLocks noChangeAspect="1"/>
          </p:cNvPicPr>
          <p:nvPr/>
        </p:nvPicPr>
        <p:blipFill>
          <a:blip r:embed="rId6"/>
          <a:stretch>
            <a:fillRect/>
          </a:stretch>
        </p:blipFill>
        <p:spPr>
          <a:xfrm>
            <a:off x="1154954" y="3063660"/>
            <a:ext cx="4256032" cy="952159"/>
          </a:xfrm>
          <a:prstGeom prst="rect">
            <a:avLst/>
          </a:prstGeom>
        </p:spPr>
      </p:pic>
      <p:pic>
        <p:nvPicPr>
          <p:cNvPr id="10" name="Picture 9">
            <a:extLst>
              <a:ext uri="{FF2B5EF4-FFF2-40B4-BE49-F238E27FC236}">
                <a16:creationId xmlns:a16="http://schemas.microsoft.com/office/drawing/2014/main" id="{5D417291-07B7-5BBD-BFBC-0C272165E481}"/>
              </a:ext>
            </a:extLst>
          </p:cNvPr>
          <p:cNvPicPr>
            <a:picLocks noChangeAspect="1"/>
          </p:cNvPicPr>
          <p:nvPr/>
        </p:nvPicPr>
        <p:blipFill>
          <a:blip r:embed="rId7"/>
          <a:stretch>
            <a:fillRect/>
          </a:stretch>
        </p:blipFill>
        <p:spPr>
          <a:xfrm>
            <a:off x="1154954" y="4605032"/>
            <a:ext cx="5014395" cy="1576608"/>
          </a:xfrm>
          <a:prstGeom prst="rect">
            <a:avLst/>
          </a:prstGeom>
        </p:spPr>
      </p:pic>
      <p:pic>
        <p:nvPicPr>
          <p:cNvPr id="15" name="Picture 14">
            <a:extLst>
              <a:ext uri="{FF2B5EF4-FFF2-40B4-BE49-F238E27FC236}">
                <a16:creationId xmlns:a16="http://schemas.microsoft.com/office/drawing/2014/main" id="{F4B8A2F0-13B6-51CE-640D-66582771F342}"/>
              </a:ext>
            </a:extLst>
          </p:cNvPr>
          <p:cNvPicPr>
            <a:picLocks noChangeAspect="1"/>
          </p:cNvPicPr>
          <p:nvPr/>
        </p:nvPicPr>
        <p:blipFill>
          <a:blip r:embed="rId8"/>
          <a:stretch>
            <a:fillRect/>
          </a:stretch>
        </p:blipFill>
        <p:spPr>
          <a:xfrm>
            <a:off x="6275108" y="3994080"/>
            <a:ext cx="3848433" cy="1975381"/>
          </a:xfrm>
          <a:prstGeom prst="rect">
            <a:avLst/>
          </a:prstGeom>
        </p:spPr>
      </p:pic>
    </p:spTree>
    <p:extLst>
      <p:ext uri="{BB962C8B-B14F-4D97-AF65-F5344CB8AC3E}">
        <p14:creationId xmlns:p14="http://schemas.microsoft.com/office/powerpoint/2010/main" val="10079159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8013D96A-318C-10FB-A197-7F381285F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ED32E-9375-0D9F-92AD-0CFA66D8B4DB}"/>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4: Warehouse Performance</a:t>
            </a:r>
          </a:p>
        </p:txBody>
      </p:sp>
      <p:sp>
        <p:nvSpPr>
          <p:cNvPr id="13" name="Subtitle 12">
            <a:extLst>
              <a:ext uri="{FF2B5EF4-FFF2-40B4-BE49-F238E27FC236}">
                <a16:creationId xmlns:a16="http://schemas.microsoft.com/office/drawing/2014/main" id="{09B6FC0D-0296-FDEB-8B87-B2D1C914F69B}"/>
              </a:ext>
            </a:extLst>
          </p:cNvPr>
          <p:cNvSpPr>
            <a:spLocks noGrp="1"/>
          </p:cNvSpPr>
          <p:nvPr>
            <p:ph sz="half" idx="1"/>
          </p:nvPr>
        </p:nvSpPr>
        <p:spPr>
          <a:xfrm>
            <a:off x="1154954" y="2460396"/>
            <a:ext cx="4828032" cy="3559405"/>
          </a:xfrm>
        </p:spPr>
        <p:txBody>
          <a:bodyPr>
            <a:noAutofit/>
          </a:bodyPr>
          <a:lstStyle/>
          <a:p>
            <a:pPr>
              <a:lnSpc>
                <a:spcPct val="150000"/>
              </a:lnSpc>
              <a:buFont typeface="Wingdings" panose="05000000000000000000" pitchFamily="2" charset="2"/>
              <a:buChar char="Ø"/>
            </a:pPr>
            <a:r>
              <a:rPr lang="en-US" sz="1200" dirty="0"/>
              <a:t>Use CTEs to find bottleneck warehouses where processing time &gt; global average. </a:t>
            </a:r>
          </a:p>
          <a:p>
            <a:pPr>
              <a:lnSpc>
                <a:spcPct val="150000"/>
              </a:lnSpc>
              <a:buFont typeface="Wingdings" panose="05000000000000000000" pitchFamily="2" charset="2"/>
              <a:buChar char="Ø"/>
            </a:pPr>
            <a:endParaRPr lang="en-US" sz="1200" dirty="0"/>
          </a:p>
        </p:txBody>
      </p:sp>
      <p:pic>
        <p:nvPicPr>
          <p:cNvPr id="1026" name="Picture 2" descr="Current logo (2024–)">
            <a:extLst>
              <a:ext uri="{FF2B5EF4-FFF2-40B4-BE49-F238E27FC236}">
                <a16:creationId xmlns:a16="http://schemas.microsoft.com/office/drawing/2014/main" id="{682448B5-317E-9106-73BA-BF760299BC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7B5B5B75-69E5-725B-4884-7244F8CB8E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3B003F55-E2D1-E73C-23BE-EF2EAF244765}"/>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C29FE65-02D9-598E-C92E-E9899E19DA0E}"/>
              </a:ext>
            </a:extLst>
          </p:cNvPr>
          <p:cNvPicPr>
            <a:picLocks noChangeAspect="1"/>
          </p:cNvPicPr>
          <p:nvPr/>
        </p:nvPicPr>
        <p:blipFill>
          <a:blip r:embed="rId5"/>
          <a:stretch>
            <a:fillRect/>
          </a:stretch>
        </p:blipFill>
        <p:spPr>
          <a:xfrm>
            <a:off x="6209016" y="2582314"/>
            <a:ext cx="4389500" cy="2838097"/>
          </a:xfrm>
          <a:prstGeom prst="rect">
            <a:avLst/>
          </a:prstGeom>
        </p:spPr>
      </p:pic>
      <p:pic>
        <p:nvPicPr>
          <p:cNvPr id="9" name="Picture 8">
            <a:extLst>
              <a:ext uri="{FF2B5EF4-FFF2-40B4-BE49-F238E27FC236}">
                <a16:creationId xmlns:a16="http://schemas.microsoft.com/office/drawing/2014/main" id="{BE323501-B95F-5447-DFFF-0A50F1F1B185}"/>
              </a:ext>
            </a:extLst>
          </p:cNvPr>
          <p:cNvPicPr>
            <a:picLocks noChangeAspect="1"/>
          </p:cNvPicPr>
          <p:nvPr/>
        </p:nvPicPr>
        <p:blipFill>
          <a:blip r:embed="rId6"/>
          <a:stretch>
            <a:fillRect/>
          </a:stretch>
        </p:blipFill>
        <p:spPr>
          <a:xfrm>
            <a:off x="1170665" y="3168190"/>
            <a:ext cx="4595258" cy="3242130"/>
          </a:xfrm>
          <a:prstGeom prst="rect">
            <a:avLst/>
          </a:prstGeom>
        </p:spPr>
      </p:pic>
    </p:spTree>
    <p:extLst>
      <p:ext uri="{BB962C8B-B14F-4D97-AF65-F5344CB8AC3E}">
        <p14:creationId xmlns:p14="http://schemas.microsoft.com/office/powerpoint/2010/main" val="30913988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3F302424-8180-4EDC-472B-549ACA52A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1DC10-751A-EC99-8D27-F8BD471787D6}"/>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4: Warehouse Performance</a:t>
            </a:r>
          </a:p>
        </p:txBody>
      </p:sp>
      <p:sp>
        <p:nvSpPr>
          <p:cNvPr id="13" name="Subtitle 12">
            <a:extLst>
              <a:ext uri="{FF2B5EF4-FFF2-40B4-BE49-F238E27FC236}">
                <a16:creationId xmlns:a16="http://schemas.microsoft.com/office/drawing/2014/main" id="{D8D986D8-BE1A-9466-926A-3C90D8550063}"/>
              </a:ext>
            </a:extLst>
          </p:cNvPr>
          <p:cNvSpPr>
            <a:spLocks noGrp="1"/>
          </p:cNvSpPr>
          <p:nvPr>
            <p:ph sz="half" idx="1"/>
          </p:nvPr>
        </p:nvSpPr>
        <p:spPr>
          <a:xfrm>
            <a:off x="1154954" y="2460396"/>
            <a:ext cx="4828032" cy="3559405"/>
          </a:xfrm>
        </p:spPr>
        <p:txBody>
          <a:bodyPr>
            <a:noAutofit/>
          </a:bodyPr>
          <a:lstStyle/>
          <a:p>
            <a:pPr>
              <a:lnSpc>
                <a:spcPct val="150000"/>
              </a:lnSpc>
              <a:buFont typeface="Wingdings" panose="05000000000000000000" pitchFamily="2" charset="2"/>
              <a:buChar char="Ø"/>
            </a:pPr>
            <a:r>
              <a:rPr lang="en-US" sz="1200" dirty="0"/>
              <a:t>Rank warehouses based on on-time delivery percentage.</a:t>
            </a:r>
          </a:p>
          <a:p>
            <a:pPr>
              <a:lnSpc>
                <a:spcPct val="150000"/>
              </a:lnSpc>
              <a:buFont typeface="Wingdings" panose="05000000000000000000" pitchFamily="2" charset="2"/>
              <a:buChar char="Ø"/>
            </a:pPr>
            <a:endParaRPr lang="en-US" sz="1200" dirty="0"/>
          </a:p>
        </p:txBody>
      </p:sp>
      <p:pic>
        <p:nvPicPr>
          <p:cNvPr id="1026" name="Picture 2" descr="Current logo (2024–)">
            <a:extLst>
              <a:ext uri="{FF2B5EF4-FFF2-40B4-BE49-F238E27FC236}">
                <a16:creationId xmlns:a16="http://schemas.microsoft.com/office/drawing/2014/main" id="{D88A9414-96E8-9529-0D08-184CC5181D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9226272D-A828-B2FE-2D49-297C56BA8D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4B3239AB-517F-3850-57B7-58600612C7E9}"/>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D4CD87D-8360-4681-850D-C3F402B35920}"/>
              </a:ext>
            </a:extLst>
          </p:cNvPr>
          <p:cNvPicPr>
            <a:picLocks noChangeAspect="1"/>
          </p:cNvPicPr>
          <p:nvPr/>
        </p:nvPicPr>
        <p:blipFill>
          <a:blip r:embed="rId5"/>
          <a:stretch>
            <a:fillRect/>
          </a:stretch>
        </p:blipFill>
        <p:spPr>
          <a:xfrm>
            <a:off x="1154954" y="2967277"/>
            <a:ext cx="4941046" cy="2865368"/>
          </a:xfrm>
          <a:prstGeom prst="rect">
            <a:avLst/>
          </a:prstGeom>
        </p:spPr>
      </p:pic>
      <p:pic>
        <p:nvPicPr>
          <p:cNvPr id="9" name="Picture 8">
            <a:extLst>
              <a:ext uri="{FF2B5EF4-FFF2-40B4-BE49-F238E27FC236}">
                <a16:creationId xmlns:a16="http://schemas.microsoft.com/office/drawing/2014/main" id="{37D0FC22-22B7-6F54-3758-C1DF3DA8AE4B}"/>
              </a:ext>
            </a:extLst>
          </p:cNvPr>
          <p:cNvPicPr>
            <a:picLocks noChangeAspect="1"/>
          </p:cNvPicPr>
          <p:nvPr/>
        </p:nvPicPr>
        <p:blipFill>
          <a:blip r:embed="rId6"/>
          <a:stretch>
            <a:fillRect/>
          </a:stretch>
        </p:blipFill>
        <p:spPr>
          <a:xfrm>
            <a:off x="6096000" y="2457067"/>
            <a:ext cx="4023709" cy="2793657"/>
          </a:xfrm>
          <a:prstGeom prst="rect">
            <a:avLst/>
          </a:prstGeom>
        </p:spPr>
      </p:pic>
    </p:spTree>
    <p:extLst>
      <p:ext uri="{BB962C8B-B14F-4D97-AF65-F5344CB8AC3E}">
        <p14:creationId xmlns:p14="http://schemas.microsoft.com/office/powerpoint/2010/main" val="1146284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5013CC3E-866E-87ED-791F-FF9FAA001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33298-D7DE-CB25-8472-3E4A8E82B816}"/>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5: Delivery Agent Performance</a:t>
            </a:r>
          </a:p>
        </p:txBody>
      </p:sp>
      <p:sp>
        <p:nvSpPr>
          <p:cNvPr id="13" name="Subtitle 12">
            <a:extLst>
              <a:ext uri="{FF2B5EF4-FFF2-40B4-BE49-F238E27FC236}">
                <a16:creationId xmlns:a16="http://schemas.microsoft.com/office/drawing/2014/main" id="{CE3AFB24-82EE-040E-6AE4-26701CB09A5C}"/>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 Rank agents (per route) by on-time delivery percentage.</a:t>
            </a:r>
          </a:p>
          <a:p>
            <a:pPr>
              <a:lnSpc>
                <a:spcPct val="150000"/>
              </a:lnSpc>
              <a:buFont typeface="Wingdings" panose="05000000000000000000" pitchFamily="2" charset="2"/>
              <a:buChar char="Ø"/>
            </a:pPr>
            <a:endParaRPr lang="en-US" sz="1200" dirty="0"/>
          </a:p>
        </p:txBody>
      </p:sp>
      <p:pic>
        <p:nvPicPr>
          <p:cNvPr id="1026" name="Picture 2" descr="Current logo (2024–)">
            <a:extLst>
              <a:ext uri="{FF2B5EF4-FFF2-40B4-BE49-F238E27FC236}">
                <a16:creationId xmlns:a16="http://schemas.microsoft.com/office/drawing/2014/main" id="{8635D924-86A8-D591-C38A-41CED81FD8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4845E2F1-3566-A687-8CF7-9AE8571A95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EDDF20FC-390A-3713-AF18-8BD370E8CFA3}"/>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9AFBF8C0-4C53-32E6-3B2A-DD34FD05C0C4}"/>
              </a:ext>
            </a:extLst>
          </p:cNvPr>
          <p:cNvPicPr>
            <a:picLocks noChangeAspect="1"/>
          </p:cNvPicPr>
          <p:nvPr/>
        </p:nvPicPr>
        <p:blipFill>
          <a:blip r:embed="rId5"/>
          <a:stretch>
            <a:fillRect/>
          </a:stretch>
        </p:blipFill>
        <p:spPr>
          <a:xfrm>
            <a:off x="1154954" y="3022135"/>
            <a:ext cx="4699091" cy="2313436"/>
          </a:xfrm>
          <a:prstGeom prst="rect">
            <a:avLst/>
          </a:prstGeom>
        </p:spPr>
      </p:pic>
      <p:pic>
        <p:nvPicPr>
          <p:cNvPr id="7" name="Picture 6">
            <a:extLst>
              <a:ext uri="{FF2B5EF4-FFF2-40B4-BE49-F238E27FC236}">
                <a16:creationId xmlns:a16="http://schemas.microsoft.com/office/drawing/2014/main" id="{5736218B-5A90-5DBB-8FEE-6AB5A0AAA935}"/>
              </a:ext>
            </a:extLst>
          </p:cNvPr>
          <p:cNvPicPr>
            <a:picLocks noChangeAspect="1"/>
          </p:cNvPicPr>
          <p:nvPr/>
        </p:nvPicPr>
        <p:blipFill>
          <a:blip r:embed="rId6"/>
          <a:stretch>
            <a:fillRect/>
          </a:stretch>
        </p:blipFill>
        <p:spPr>
          <a:xfrm>
            <a:off x="5982986" y="2674185"/>
            <a:ext cx="2847827" cy="2659035"/>
          </a:xfrm>
          <a:prstGeom prst="rect">
            <a:avLst/>
          </a:prstGeom>
        </p:spPr>
      </p:pic>
      <p:pic>
        <p:nvPicPr>
          <p:cNvPr id="10" name="Picture 9">
            <a:extLst>
              <a:ext uri="{FF2B5EF4-FFF2-40B4-BE49-F238E27FC236}">
                <a16:creationId xmlns:a16="http://schemas.microsoft.com/office/drawing/2014/main" id="{5235B050-B195-2118-BBCB-D9DAD203A7D3}"/>
              </a:ext>
            </a:extLst>
          </p:cNvPr>
          <p:cNvPicPr>
            <a:picLocks noChangeAspect="1"/>
          </p:cNvPicPr>
          <p:nvPr/>
        </p:nvPicPr>
        <p:blipFill>
          <a:blip r:embed="rId7"/>
          <a:stretch>
            <a:fillRect/>
          </a:stretch>
        </p:blipFill>
        <p:spPr>
          <a:xfrm>
            <a:off x="8830813" y="2674187"/>
            <a:ext cx="2847826" cy="2659033"/>
          </a:xfrm>
          <a:prstGeom prst="rect">
            <a:avLst/>
          </a:prstGeom>
        </p:spPr>
      </p:pic>
    </p:spTree>
    <p:extLst>
      <p:ext uri="{BB962C8B-B14F-4D97-AF65-F5344CB8AC3E}">
        <p14:creationId xmlns:p14="http://schemas.microsoft.com/office/powerpoint/2010/main" val="151836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0D57108C-096C-F376-2D9F-2F50EE5642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5C968-F679-92AE-774D-7F4039BA49CC}"/>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5: Delivery Agent Performance</a:t>
            </a:r>
          </a:p>
        </p:txBody>
      </p:sp>
      <p:sp>
        <p:nvSpPr>
          <p:cNvPr id="13" name="Subtitle 12">
            <a:extLst>
              <a:ext uri="{FF2B5EF4-FFF2-40B4-BE49-F238E27FC236}">
                <a16:creationId xmlns:a16="http://schemas.microsoft.com/office/drawing/2014/main" id="{882B120D-5576-0030-6826-30966D4AB78D}"/>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 Find agents with on-time % &lt; 80%. </a:t>
            </a:r>
          </a:p>
          <a:p>
            <a:pPr>
              <a:lnSpc>
                <a:spcPct val="150000"/>
              </a:lnSpc>
              <a:buFont typeface="Wingdings" panose="05000000000000000000" pitchFamily="2" charset="2"/>
              <a:buChar char="Ø"/>
            </a:pPr>
            <a:endParaRPr lang="en-US" sz="1200" dirty="0"/>
          </a:p>
          <a:p>
            <a:pPr>
              <a:lnSpc>
                <a:spcPct val="150000"/>
              </a:lnSpc>
              <a:buFont typeface="Wingdings" panose="05000000000000000000" pitchFamily="2" charset="2"/>
              <a:buChar char="Ø"/>
            </a:pPr>
            <a:endParaRPr lang="en-US" sz="1200" dirty="0"/>
          </a:p>
        </p:txBody>
      </p:sp>
      <p:pic>
        <p:nvPicPr>
          <p:cNvPr id="1026" name="Picture 2" descr="Current logo (2024–)">
            <a:extLst>
              <a:ext uri="{FF2B5EF4-FFF2-40B4-BE49-F238E27FC236}">
                <a16:creationId xmlns:a16="http://schemas.microsoft.com/office/drawing/2014/main" id="{77BBDFBC-0356-F096-A2D9-3B9721E9F9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44352D3E-DD5D-9E32-4FF4-5F9A061FDD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4F16D95E-EA2A-441D-8D0F-95F53CFDD469}"/>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6012CDD-A0EE-05FD-8059-C31DC5BF8271}"/>
              </a:ext>
            </a:extLst>
          </p:cNvPr>
          <p:cNvPicPr>
            <a:picLocks noChangeAspect="1"/>
          </p:cNvPicPr>
          <p:nvPr/>
        </p:nvPicPr>
        <p:blipFill>
          <a:blip r:embed="rId5"/>
          <a:stretch>
            <a:fillRect/>
          </a:stretch>
        </p:blipFill>
        <p:spPr>
          <a:xfrm>
            <a:off x="1154954" y="3099355"/>
            <a:ext cx="3266217" cy="1680035"/>
          </a:xfrm>
          <a:prstGeom prst="rect">
            <a:avLst/>
          </a:prstGeom>
        </p:spPr>
      </p:pic>
      <p:pic>
        <p:nvPicPr>
          <p:cNvPr id="12" name="Picture 11">
            <a:extLst>
              <a:ext uri="{FF2B5EF4-FFF2-40B4-BE49-F238E27FC236}">
                <a16:creationId xmlns:a16="http://schemas.microsoft.com/office/drawing/2014/main" id="{B97F79A4-F3BB-BEB3-EE83-A5CBE8E90476}"/>
              </a:ext>
            </a:extLst>
          </p:cNvPr>
          <p:cNvPicPr>
            <a:picLocks noChangeAspect="1"/>
          </p:cNvPicPr>
          <p:nvPr/>
        </p:nvPicPr>
        <p:blipFill>
          <a:blip r:embed="rId6"/>
          <a:stretch>
            <a:fillRect/>
          </a:stretch>
        </p:blipFill>
        <p:spPr>
          <a:xfrm>
            <a:off x="6096000" y="2603500"/>
            <a:ext cx="3066854" cy="3467400"/>
          </a:xfrm>
          <a:prstGeom prst="rect">
            <a:avLst/>
          </a:prstGeom>
        </p:spPr>
      </p:pic>
    </p:spTree>
    <p:extLst>
      <p:ext uri="{BB962C8B-B14F-4D97-AF65-F5344CB8AC3E}">
        <p14:creationId xmlns:p14="http://schemas.microsoft.com/office/powerpoint/2010/main" val="29690278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95488697-04ED-47D5-C54E-34D3541164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EC96BA-06B4-F283-AA5C-958BD33033AA}"/>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5: Delivery Agent Performance</a:t>
            </a:r>
          </a:p>
        </p:txBody>
      </p:sp>
      <p:sp>
        <p:nvSpPr>
          <p:cNvPr id="13" name="Subtitle 12">
            <a:extLst>
              <a:ext uri="{FF2B5EF4-FFF2-40B4-BE49-F238E27FC236}">
                <a16:creationId xmlns:a16="http://schemas.microsoft.com/office/drawing/2014/main" id="{F02E6D33-B903-F675-C588-DAEC5567CD2D}"/>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a:t> Compare average speed of top 5 vs bottom 5 agents using subqueries. </a:t>
            </a:r>
            <a:endParaRPr lang="en-US" sz="1200" dirty="0"/>
          </a:p>
          <a:p>
            <a:pPr>
              <a:lnSpc>
                <a:spcPct val="150000"/>
              </a:lnSpc>
              <a:buFont typeface="Wingdings" panose="05000000000000000000" pitchFamily="2" charset="2"/>
              <a:buChar char="Ø"/>
            </a:pPr>
            <a:endParaRPr lang="en-US" sz="1200" dirty="0"/>
          </a:p>
        </p:txBody>
      </p:sp>
      <p:pic>
        <p:nvPicPr>
          <p:cNvPr id="1026" name="Picture 2" descr="Current logo (2024–)">
            <a:extLst>
              <a:ext uri="{FF2B5EF4-FFF2-40B4-BE49-F238E27FC236}">
                <a16:creationId xmlns:a16="http://schemas.microsoft.com/office/drawing/2014/main" id="{550FFA57-A692-AB9C-C5B1-B18E401C9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907989BF-441D-8AAF-BFE5-A5E5FE3E50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5A9BB00C-9B5D-0FA1-52DB-0EC7249FDA7A}"/>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EB8BB49-D930-6821-F3FA-054651F9F62E}"/>
              </a:ext>
            </a:extLst>
          </p:cNvPr>
          <p:cNvPicPr>
            <a:picLocks noChangeAspect="1"/>
          </p:cNvPicPr>
          <p:nvPr/>
        </p:nvPicPr>
        <p:blipFill>
          <a:blip r:embed="rId5"/>
          <a:stretch>
            <a:fillRect/>
          </a:stretch>
        </p:blipFill>
        <p:spPr>
          <a:xfrm>
            <a:off x="1154954" y="3187839"/>
            <a:ext cx="4572396" cy="1522936"/>
          </a:xfrm>
          <a:prstGeom prst="rect">
            <a:avLst/>
          </a:prstGeom>
        </p:spPr>
      </p:pic>
      <p:pic>
        <p:nvPicPr>
          <p:cNvPr id="11" name="Picture 10">
            <a:extLst>
              <a:ext uri="{FF2B5EF4-FFF2-40B4-BE49-F238E27FC236}">
                <a16:creationId xmlns:a16="http://schemas.microsoft.com/office/drawing/2014/main" id="{9590941F-7B3F-45AB-1343-1BE70571C201}"/>
              </a:ext>
            </a:extLst>
          </p:cNvPr>
          <p:cNvPicPr>
            <a:picLocks noChangeAspect="1"/>
          </p:cNvPicPr>
          <p:nvPr/>
        </p:nvPicPr>
        <p:blipFill>
          <a:blip r:embed="rId6"/>
          <a:stretch>
            <a:fillRect/>
          </a:stretch>
        </p:blipFill>
        <p:spPr>
          <a:xfrm>
            <a:off x="1166407" y="4787506"/>
            <a:ext cx="4686706" cy="1522935"/>
          </a:xfrm>
          <a:prstGeom prst="rect">
            <a:avLst/>
          </a:prstGeom>
        </p:spPr>
      </p:pic>
      <p:pic>
        <p:nvPicPr>
          <p:cNvPr id="14" name="Picture 13">
            <a:extLst>
              <a:ext uri="{FF2B5EF4-FFF2-40B4-BE49-F238E27FC236}">
                <a16:creationId xmlns:a16="http://schemas.microsoft.com/office/drawing/2014/main" id="{2B804E8D-C634-853B-EA6E-F372530CE82C}"/>
              </a:ext>
            </a:extLst>
          </p:cNvPr>
          <p:cNvPicPr>
            <a:picLocks noChangeAspect="1"/>
          </p:cNvPicPr>
          <p:nvPr/>
        </p:nvPicPr>
        <p:blipFill>
          <a:blip r:embed="rId7"/>
          <a:stretch>
            <a:fillRect/>
          </a:stretch>
        </p:blipFill>
        <p:spPr>
          <a:xfrm>
            <a:off x="6209016" y="2603500"/>
            <a:ext cx="4471553" cy="1619702"/>
          </a:xfrm>
          <a:prstGeom prst="rect">
            <a:avLst/>
          </a:prstGeom>
        </p:spPr>
      </p:pic>
      <p:pic>
        <p:nvPicPr>
          <p:cNvPr id="16" name="Picture 15">
            <a:extLst>
              <a:ext uri="{FF2B5EF4-FFF2-40B4-BE49-F238E27FC236}">
                <a16:creationId xmlns:a16="http://schemas.microsoft.com/office/drawing/2014/main" id="{A571C8D7-5E7D-E8E9-F058-440CBCBC3177}"/>
              </a:ext>
            </a:extLst>
          </p:cNvPr>
          <p:cNvPicPr>
            <a:picLocks noChangeAspect="1"/>
          </p:cNvPicPr>
          <p:nvPr/>
        </p:nvPicPr>
        <p:blipFill>
          <a:blip r:embed="rId8"/>
          <a:stretch>
            <a:fillRect/>
          </a:stretch>
        </p:blipFill>
        <p:spPr>
          <a:xfrm>
            <a:off x="6327352" y="4298358"/>
            <a:ext cx="4458086" cy="1546253"/>
          </a:xfrm>
          <a:prstGeom prst="rect">
            <a:avLst/>
          </a:prstGeom>
        </p:spPr>
      </p:pic>
    </p:spTree>
    <p:extLst>
      <p:ext uri="{BB962C8B-B14F-4D97-AF65-F5344CB8AC3E}">
        <p14:creationId xmlns:p14="http://schemas.microsoft.com/office/powerpoint/2010/main" val="2159832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7EE3581F-8EE7-F3B3-4731-09AE57128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8F72B-B9A0-409E-D838-3D6B29E0B652}"/>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6: Shipment Tracking Analytics</a:t>
            </a:r>
          </a:p>
        </p:txBody>
      </p:sp>
      <p:sp>
        <p:nvSpPr>
          <p:cNvPr id="13" name="Subtitle 12">
            <a:extLst>
              <a:ext uri="{FF2B5EF4-FFF2-40B4-BE49-F238E27FC236}">
                <a16:creationId xmlns:a16="http://schemas.microsoft.com/office/drawing/2014/main" id="{1097EEF2-C842-D7EE-2425-7AE1129F861E}"/>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 For each order, list the last checkpoint and time.</a:t>
            </a:r>
          </a:p>
          <a:p>
            <a:pPr>
              <a:lnSpc>
                <a:spcPct val="150000"/>
              </a:lnSpc>
              <a:buFont typeface="Wingdings" panose="05000000000000000000" pitchFamily="2" charset="2"/>
              <a:buChar char="Ø"/>
            </a:pPr>
            <a:endParaRPr lang="en-US" sz="1200" dirty="0"/>
          </a:p>
        </p:txBody>
      </p:sp>
      <p:pic>
        <p:nvPicPr>
          <p:cNvPr id="1026" name="Picture 2" descr="Current logo (2024–)">
            <a:extLst>
              <a:ext uri="{FF2B5EF4-FFF2-40B4-BE49-F238E27FC236}">
                <a16:creationId xmlns:a16="http://schemas.microsoft.com/office/drawing/2014/main" id="{69071E9B-E1A6-7F94-81A9-AFB0A2638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7F6A58A3-06FB-D46E-81B6-7904151D18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A7CF9128-DE00-28F9-FCEE-BA7F163B33DB}"/>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BBF73D5-D6A7-2C04-21B5-FBBF27A62A8B}"/>
              </a:ext>
            </a:extLst>
          </p:cNvPr>
          <p:cNvPicPr>
            <a:picLocks noChangeAspect="1"/>
          </p:cNvPicPr>
          <p:nvPr/>
        </p:nvPicPr>
        <p:blipFill>
          <a:blip r:embed="rId5"/>
          <a:stretch>
            <a:fillRect/>
          </a:stretch>
        </p:blipFill>
        <p:spPr>
          <a:xfrm>
            <a:off x="1154954" y="3022466"/>
            <a:ext cx="4548262" cy="2644369"/>
          </a:xfrm>
          <a:prstGeom prst="rect">
            <a:avLst/>
          </a:prstGeom>
        </p:spPr>
      </p:pic>
      <p:pic>
        <p:nvPicPr>
          <p:cNvPr id="9" name="Picture 8">
            <a:extLst>
              <a:ext uri="{FF2B5EF4-FFF2-40B4-BE49-F238E27FC236}">
                <a16:creationId xmlns:a16="http://schemas.microsoft.com/office/drawing/2014/main" id="{467D0C0C-15E2-2DBD-5374-2809EF1914F7}"/>
              </a:ext>
            </a:extLst>
          </p:cNvPr>
          <p:cNvPicPr>
            <a:picLocks noChangeAspect="1"/>
          </p:cNvPicPr>
          <p:nvPr/>
        </p:nvPicPr>
        <p:blipFill>
          <a:blip r:embed="rId6"/>
          <a:stretch>
            <a:fillRect/>
          </a:stretch>
        </p:blipFill>
        <p:spPr>
          <a:xfrm>
            <a:off x="5982986" y="2603500"/>
            <a:ext cx="2596163" cy="1806097"/>
          </a:xfrm>
          <a:prstGeom prst="rect">
            <a:avLst/>
          </a:prstGeom>
        </p:spPr>
      </p:pic>
      <p:pic>
        <p:nvPicPr>
          <p:cNvPr id="12" name="Picture 11">
            <a:extLst>
              <a:ext uri="{FF2B5EF4-FFF2-40B4-BE49-F238E27FC236}">
                <a16:creationId xmlns:a16="http://schemas.microsoft.com/office/drawing/2014/main" id="{FF942B89-E88A-D873-CACD-8899E03207CD}"/>
              </a:ext>
            </a:extLst>
          </p:cNvPr>
          <p:cNvPicPr>
            <a:picLocks noChangeAspect="1"/>
          </p:cNvPicPr>
          <p:nvPr/>
        </p:nvPicPr>
        <p:blipFill>
          <a:blip r:embed="rId7"/>
          <a:stretch>
            <a:fillRect/>
          </a:stretch>
        </p:blipFill>
        <p:spPr>
          <a:xfrm>
            <a:off x="5982986" y="4436195"/>
            <a:ext cx="2596163" cy="1623201"/>
          </a:xfrm>
          <a:prstGeom prst="rect">
            <a:avLst/>
          </a:prstGeom>
        </p:spPr>
      </p:pic>
      <p:pic>
        <p:nvPicPr>
          <p:cNvPr id="19" name="Picture 18">
            <a:extLst>
              <a:ext uri="{FF2B5EF4-FFF2-40B4-BE49-F238E27FC236}">
                <a16:creationId xmlns:a16="http://schemas.microsoft.com/office/drawing/2014/main" id="{980A23D5-A64B-80F8-266F-64EF03C9BE50}"/>
              </a:ext>
            </a:extLst>
          </p:cNvPr>
          <p:cNvPicPr>
            <a:picLocks noChangeAspect="1"/>
          </p:cNvPicPr>
          <p:nvPr/>
        </p:nvPicPr>
        <p:blipFill>
          <a:blip r:embed="rId8"/>
          <a:stretch>
            <a:fillRect/>
          </a:stretch>
        </p:blipFill>
        <p:spPr>
          <a:xfrm>
            <a:off x="8540061" y="2603500"/>
            <a:ext cx="2270957" cy="1832695"/>
          </a:xfrm>
          <a:prstGeom prst="rect">
            <a:avLst/>
          </a:prstGeom>
        </p:spPr>
      </p:pic>
      <p:pic>
        <p:nvPicPr>
          <p:cNvPr id="23" name="Picture 22">
            <a:extLst>
              <a:ext uri="{FF2B5EF4-FFF2-40B4-BE49-F238E27FC236}">
                <a16:creationId xmlns:a16="http://schemas.microsoft.com/office/drawing/2014/main" id="{8DD512B9-1A71-959D-684F-9E13CD83FD2E}"/>
              </a:ext>
            </a:extLst>
          </p:cNvPr>
          <p:cNvPicPr>
            <a:picLocks noChangeAspect="1"/>
          </p:cNvPicPr>
          <p:nvPr/>
        </p:nvPicPr>
        <p:blipFill>
          <a:blip r:embed="rId9"/>
          <a:stretch>
            <a:fillRect/>
          </a:stretch>
        </p:blipFill>
        <p:spPr>
          <a:xfrm>
            <a:off x="8579149" y="4462793"/>
            <a:ext cx="2270957" cy="1615580"/>
          </a:xfrm>
          <a:prstGeom prst="rect">
            <a:avLst/>
          </a:prstGeom>
        </p:spPr>
      </p:pic>
    </p:spTree>
    <p:extLst>
      <p:ext uri="{BB962C8B-B14F-4D97-AF65-F5344CB8AC3E}">
        <p14:creationId xmlns:p14="http://schemas.microsoft.com/office/powerpoint/2010/main" val="28611571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EA37D6F1-668C-5EA1-76AB-F6B8A13B75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956BF-BD55-6A1B-1DB9-2F2386081DDB}"/>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6: Shipment Tracking Analytics</a:t>
            </a:r>
          </a:p>
        </p:txBody>
      </p:sp>
      <p:sp>
        <p:nvSpPr>
          <p:cNvPr id="13" name="Subtitle 12">
            <a:extLst>
              <a:ext uri="{FF2B5EF4-FFF2-40B4-BE49-F238E27FC236}">
                <a16:creationId xmlns:a16="http://schemas.microsoft.com/office/drawing/2014/main" id="{1561760C-B546-CE95-E16F-D4C7A401845F}"/>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 Find the most common delay reasons (excluding None).</a:t>
            </a:r>
          </a:p>
          <a:p>
            <a:pPr>
              <a:lnSpc>
                <a:spcPct val="150000"/>
              </a:lnSpc>
              <a:buFont typeface="Wingdings" panose="05000000000000000000" pitchFamily="2" charset="2"/>
              <a:buChar char="Ø"/>
            </a:pPr>
            <a:endParaRPr lang="en-US" sz="1200" dirty="0"/>
          </a:p>
          <a:p>
            <a:pPr>
              <a:lnSpc>
                <a:spcPct val="150000"/>
              </a:lnSpc>
              <a:buFont typeface="Wingdings" panose="05000000000000000000" pitchFamily="2" charset="2"/>
              <a:buChar char="Ø"/>
            </a:pPr>
            <a:endParaRPr lang="en-US" sz="1200" dirty="0"/>
          </a:p>
          <a:p>
            <a:pPr>
              <a:lnSpc>
                <a:spcPct val="150000"/>
              </a:lnSpc>
              <a:buFont typeface="Wingdings" panose="05000000000000000000" pitchFamily="2" charset="2"/>
              <a:buChar char="Ø"/>
            </a:pPr>
            <a:endParaRPr lang="en-US" sz="1200" dirty="0"/>
          </a:p>
          <a:p>
            <a:pPr>
              <a:lnSpc>
                <a:spcPct val="150000"/>
              </a:lnSpc>
              <a:buFont typeface="Wingdings" panose="05000000000000000000" pitchFamily="2" charset="2"/>
              <a:buChar char="Ø"/>
            </a:pPr>
            <a:r>
              <a:rPr lang="en-US" sz="1200" dirty="0"/>
              <a:t>Identify orders with &gt;2 delayed checkpoints  </a:t>
            </a:r>
          </a:p>
          <a:p>
            <a:pPr>
              <a:lnSpc>
                <a:spcPct val="150000"/>
              </a:lnSpc>
              <a:buFont typeface="Wingdings" panose="05000000000000000000" pitchFamily="2" charset="2"/>
              <a:buChar char="Ø"/>
            </a:pPr>
            <a:endParaRPr lang="en-US" sz="1200" dirty="0"/>
          </a:p>
        </p:txBody>
      </p:sp>
      <p:pic>
        <p:nvPicPr>
          <p:cNvPr id="1026" name="Picture 2" descr="Current logo (2024–)">
            <a:extLst>
              <a:ext uri="{FF2B5EF4-FFF2-40B4-BE49-F238E27FC236}">
                <a16:creationId xmlns:a16="http://schemas.microsoft.com/office/drawing/2014/main" id="{082B9C79-EAC0-2D52-E8FB-5B64BFABAB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FB8D13D6-5490-B2F8-6802-C69B74047F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A1F6DD11-3B1C-DE52-5572-6C999F8DCAB3}"/>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2D3DC6F-DA2E-0407-1E04-841044517287}"/>
              </a:ext>
            </a:extLst>
          </p:cNvPr>
          <p:cNvPicPr>
            <a:picLocks noChangeAspect="1"/>
          </p:cNvPicPr>
          <p:nvPr/>
        </p:nvPicPr>
        <p:blipFill>
          <a:blip r:embed="rId5"/>
          <a:stretch>
            <a:fillRect/>
          </a:stretch>
        </p:blipFill>
        <p:spPr>
          <a:xfrm>
            <a:off x="1154954" y="2998679"/>
            <a:ext cx="3398192" cy="1318797"/>
          </a:xfrm>
          <a:prstGeom prst="rect">
            <a:avLst/>
          </a:prstGeom>
        </p:spPr>
      </p:pic>
      <p:pic>
        <p:nvPicPr>
          <p:cNvPr id="10" name="Picture 9">
            <a:extLst>
              <a:ext uri="{FF2B5EF4-FFF2-40B4-BE49-F238E27FC236}">
                <a16:creationId xmlns:a16="http://schemas.microsoft.com/office/drawing/2014/main" id="{5AA4618F-296C-6247-B596-1A6486944DE4}"/>
              </a:ext>
            </a:extLst>
          </p:cNvPr>
          <p:cNvPicPr>
            <a:picLocks noChangeAspect="1"/>
          </p:cNvPicPr>
          <p:nvPr/>
        </p:nvPicPr>
        <p:blipFill>
          <a:blip r:embed="rId6"/>
          <a:stretch>
            <a:fillRect/>
          </a:stretch>
        </p:blipFill>
        <p:spPr>
          <a:xfrm>
            <a:off x="6410395" y="2603500"/>
            <a:ext cx="2450801" cy="893844"/>
          </a:xfrm>
          <a:prstGeom prst="rect">
            <a:avLst/>
          </a:prstGeom>
        </p:spPr>
      </p:pic>
      <p:pic>
        <p:nvPicPr>
          <p:cNvPr id="14" name="Picture 13">
            <a:extLst>
              <a:ext uri="{FF2B5EF4-FFF2-40B4-BE49-F238E27FC236}">
                <a16:creationId xmlns:a16="http://schemas.microsoft.com/office/drawing/2014/main" id="{BEF4DC24-18FD-AC04-C98A-500F442D71BB}"/>
              </a:ext>
            </a:extLst>
          </p:cNvPr>
          <p:cNvPicPr>
            <a:picLocks noChangeAspect="1"/>
          </p:cNvPicPr>
          <p:nvPr/>
        </p:nvPicPr>
        <p:blipFill>
          <a:blip r:embed="rId7"/>
          <a:stretch>
            <a:fillRect/>
          </a:stretch>
        </p:blipFill>
        <p:spPr>
          <a:xfrm>
            <a:off x="1154954" y="4659486"/>
            <a:ext cx="3398192" cy="1508891"/>
          </a:xfrm>
          <a:prstGeom prst="rect">
            <a:avLst/>
          </a:prstGeom>
        </p:spPr>
      </p:pic>
      <p:pic>
        <p:nvPicPr>
          <p:cNvPr id="16" name="Picture 15">
            <a:extLst>
              <a:ext uri="{FF2B5EF4-FFF2-40B4-BE49-F238E27FC236}">
                <a16:creationId xmlns:a16="http://schemas.microsoft.com/office/drawing/2014/main" id="{1686E8DF-B676-9745-0C42-BE00C577E698}"/>
              </a:ext>
            </a:extLst>
          </p:cNvPr>
          <p:cNvPicPr>
            <a:picLocks noChangeAspect="1"/>
          </p:cNvPicPr>
          <p:nvPr/>
        </p:nvPicPr>
        <p:blipFill>
          <a:blip r:embed="rId8"/>
          <a:stretch>
            <a:fillRect/>
          </a:stretch>
        </p:blipFill>
        <p:spPr>
          <a:xfrm>
            <a:off x="5549260" y="4024468"/>
            <a:ext cx="1722269" cy="2531190"/>
          </a:xfrm>
          <a:prstGeom prst="rect">
            <a:avLst/>
          </a:prstGeom>
        </p:spPr>
      </p:pic>
      <p:pic>
        <p:nvPicPr>
          <p:cNvPr id="18" name="Picture 17">
            <a:extLst>
              <a:ext uri="{FF2B5EF4-FFF2-40B4-BE49-F238E27FC236}">
                <a16:creationId xmlns:a16="http://schemas.microsoft.com/office/drawing/2014/main" id="{6BAE5855-3AA4-6326-3B4D-5E4E49A6AC8F}"/>
              </a:ext>
            </a:extLst>
          </p:cNvPr>
          <p:cNvPicPr>
            <a:picLocks noChangeAspect="1"/>
          </p:cNvPicPr>
          <p:nvPr/>
        </p:nvPicPr>
        <p:blipFill>
          <a:blip r:embed="rId9"/>
          <a:stretch>
            <a:fillRect/>
          </a:stretch>
        </p:blipFill>
        <p:spPr>
          <a:xfrm>
            <a:off x="7225183" y="4024472"/>
            <a:ext cx="1722269" cy="2531186"/>
          </a:xfrm>
          <a:prstGeom prst="rect">
            <a:avLst/>
          </a:prstGeom>
        </p:spPr>
      </p:pic>
      <p:pic>
        <p:nvPicPr>
          <p:cNvPr id="21" name="Picture 20">
            <a:extLst>
              <a:ext uri="{FF2B5EF4-FFF2-40B4-BE49-F238E27FC236}">
                <a16:creationId xmlns:a16="http://schemas.microsoft.com/office/drawing/2014/main" id="{1CA71B7B-F11B-C163-CDEC-91160AB959AC}"/>
              </a:ext>
            </a:extLst>
          </p:cNvPr>
          <p:cNvPicPr>
            <a:picLocks noChangeAspect="1"/>
          </p:cNvPicPr>
          <p:nvPr/>
        </p:nvPicPr>
        <p:blipFill>
          <a:blip r:embed="rId10"/>
          <a:stretch>
            <a:fillRect/>
          </a:stretch>
        </p:blipFill>
        <p:spPr>
          <a:xfrm>
            <a:off x="8947452" y="4024468"/>
            <a:ext cx="1607534" cy="2531184"/>
          </a:xfrm>
          <a:prstGeom prst="rect">
            <a:avLst/>
          </a:prstGeom>
        </p:spPr>
      </p:pic>
    </p:spTree>
    <p:extLst>
      <p:ext uri="{BB962C8B-B14F-4D97-AF65-F5344CB8AC3E}">
        <p14:creationId xmlns:p14="http://schemas.microsoft.com/office/powerpoint/2010/main" val="33917423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AA06CDE0-0B5F-8D94-9C4C-8088E8592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0EC6A-96A0-A7C1-FD42-A541A64F0DAF}"/>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7: Advanced KPI Reporting</a:t>
            </a:r>
          </a:p>
        </p:txBody>
      </p:sp>
      <p:sp>
        <p:nvSpPr>
          <p:cNvPr id="13" name="Subtitle 12">
            <a:extLst>
              <a:ext uri="{FF2B5EF4-FFF2-40B4-BE49-F238E27FC236}">
                <a16:creationId xmlns:a16="http://schemas.microsoft.com/office/drawing/2014/main" id="{60BB96F3-D3B1-BD88-112D-E5745BF49ADD}"/>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Average Delivery Delay per Region (</a:t>
            </a:r>
            <a:r>
              <a:rPr lang="en-US" sz="1200" dirty="0" err="1"/>
              <a:t>Start_Location</a:t>
            </a:r>
            <a:r>
              <a:rPr lang="en-US" sz="1200" dirty="0"/>
              <a:t>).</a:t>
            </a:r>
          </a:p>
          <a:p>
            <a:pPr marL="0" indent="0">
              <a:lnSpc>
                <a:spcPct val="150000"/>
              </a:lnSpc>
              <a:buNone/>
            </a:pPr>
            <a:r>
              <a:rPr lang="en-US" sz="1200" dirty="0"/>
              <a:t> </a:t>
            </a:r>
          </a:p>
        </p:txBody>
      </p:sp>
      <p:pic>
        <p:nvPicPr>
          <p:cNvPr id="1026" name="Picture 2" descr="Current logo (2024–)">
            <a:extLst>
              <a:ext uri="{FF2B5EF4-FFF2-40B4-BE49-F238E27FC236}">
                <a16:creationId xmlns:a16="http://schemas.microsoft.com/office/drawing/2014/main" id="{44ED86C0-60CB-45B4-8790-60FAC0DF07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A47F56BF-BE40-D57D-69C1-EF224A6232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FB8A68BE-B729-D602-AEDC-65D4EB6FF26E}"/>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7DAE680D-48B3-9CA3-8073-7967901307EF}"/>
              </a:ext>
            </a:extLst>
          </p:cNvPr>
          <p:cNvPicPr>
            <a:picLocks noChangeAspect="1"/>
          </p:cNvPicPr>
          <p:nvPr/>
        </p:nvPicPr>
        <p:blipFill>
          <a:blip r:embed="rId5"/>
          <a:stretch>
            <a:fillRect/>
          </a:stretch>
        </p:blipFill>
        <p:spPr>
          <a:xfrm>
            <a:off x="1154954" y="3014537"/>
            <a:ext cx="4511431" cy="1752752"/>
          </a:xfrm>
          <a:prstGeom prst="rect">
            <a:avLst/>
          </a:prstGeom>
        </p:spPr>
      </p:pic>
      <p:pic>
        <p:nvPicPr>
          <p:cNvPr id="10" name="Picture 9">
            <a:extLst>
              <a:ext uri="{FF2B5EF4-FFF2-40B4-BE49-F238E27FC236}">
                <a16:creationId xmlns:a16="http://schemas.microsoft.com/office/drawing/2014/main" id="{87D48AA0-FA8A-86EC-8662-280A9D9F9570}"/>
              </a:ext>
            </a:extLst>
          </p:cNvPr>
          <p:cNvPicPr>
            <a:picLocks noChangeAspect="1"/>
          </p:cNvPicPr>
          <p:nvPr/>
        </p:nvPicPr>
        <p:blipFill>
          <a:blip r:embed="rId6"/>
          <a:stretch>
            <a:fillRect/>
          </a:stretch>
        </p:blipFill>
        <p:spPr>
          <a:xfrm>
            <a:off x="6796726" y="2603500"/>
            <a:ext cx="2656262" cy="3452159"/>
          </a:xfrm>
          <a:prstGeom prst="rect">
            <a:avLst/>
          </a:prstGeom>
        </p:spPr>
      </p:pic>
    </p:spTree>
    <p:extLst>
      <p:ext uri="{BB962C8B-B14F-4D97-AF65-F5344CB8AC3E}">
        <p14:creationId xmlns:p14="http://schemas.microsoft.com/office/powerpoint/2010/main" val="34342896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0A84EA45-4B37-C85C-8D62-A25BF7038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2059C-7E3F-F988-C544-E551499563A7}"/>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7: Advanced KPI Reporting</a:t>
            </a:r>
          </a:p>
        </p:txBody>
      </p:sp>
      <p:sp>
        <p:nvSpPr>
          <p:cNvPr id="13" name="Subtitle 12">
            <a:extLst>
              <a:ext uri="{FF2B5EF4-FFF2-40B4-BE49-F238E27FC236}">
                <a16:creationId xmlns:a16="http://schemas.microsoft.com/office/drawing/2014/main" id="{2B7ED941-B09D-F75D-C6DC-3BCFA9C2E3A5}"/>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On-Time Delivery % = (Total On-Time Deliveries / Total Deliveries) * 100. </a:t>
            </a:r>
          </a:p>
        </p:txBody>
      </p:sp>
      <p:pic>
        <p:nvPicPr>
          <p:cNvPr id="1026" name="Picture 2" descr="Current logo (2024–)">
            <a:extLst>
              <a:ext uri="{FF2B5EF4-FFF2-40B4-BE49-F238E27FC236}">
                <a16:creationId xmlns:a16="http://schemas.microsoft.com/office/drawing/2014/main" id="{1CC34F13-E3A0-77C0-1845-4B4B2DAE07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C0098CBB-791E-4F82-6259-2CECA41EED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719367E8-FD64-1B0D-4525-B450C05BEE64}"/>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4D47C984-1886-A918-801B-71EB937DF639}"/>
              </a:ext>
            </a:extLst>
          </p:cNvPr>
          <p:cNvPicPr>
            <a:picLocks noChangeAspect="1"/>
          </p:cNvPicPr>
          <p:nvPr/>
        </p:nvPicPr>
        <p:blipFill>
          <a:blip r:embed="rId5"/>
          <a:stretch>
            <a:fillRect/>
          </a:stretch>
        </p:blipFill>
        <p:spPr>
          <a:xfrm>
            <a:off x="1154954" y="3252806"/>
            <a:ext cx="4244708" cy="1615580"/>
          </a:xfrm>
          <a:prstGeom prst="rect">
            <a:avLst/>
          </a:prstGeom>
        </p:spPr>
      </p:pic>
      <p:pic>
        <p:nvPicPr>
          <p:cNvPr id="7" name="Picture 6">
            <a:extLst>
              <a:ext uri="{FF2B5EF4-FFF2-40B4-BE49-F238E27FC236}">
                <a16:creationId xmlns:a16="http://schemas.microsoft.com/office/drawing/2014/main" id="{BFB63412-9D32-C841-EC91-1842D00348E4}"/>
              </a:ext>
            </a:extLst>
          </p:cNvPr>
          <p:cNvPicPr>
            <a:picLocks noChangeAspect="1"/>
          </p:cNvPicPr>
          <p:nvPr/>
        </p:nvPicPr>
        <p:blipFill>
          <a:blip r:embed="rId6"/>
          <a:stretch>
            <a:fillRect/>
          </a:stretch>
        </p:blipFill>
        <p:spPr>
          <a:xfrm>
            <a:off x="6420679" y="2724917"/>
            <a:ext cx="2375452" cy="704083"/>
          </a:xfrm>
          <a:prstGeom prst="rect">
            <a:avLst/>
          </a:prstGeom>
        </p:spPr>
      </p:pic>
    </p:spTree>
    <p:extLst>
      <p:ext uri="{BB962C8B-B14F-4D97-AF65-F5344CB8AC3E}">
        <p14:creationId xmlns:p14="http://schemas.microsoft.com/office/powerpoint/2010/main" val="28550336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9F9F9"/>
            </a:gs>
            <a:gs pos="18000">
              <a:schemeClr val="tx2">
                <a:lumMod val="40000"/>
                <a:lumOff val="60000"/>
              </a:schemeClr>
            </a:gs>
            <a:gs pos="62000">
              <a:schemeClr val="accent1">
                <a:lumMod val="45000"/>
                <a:lumOff val="55000"/>
              </a:schemeClr>
            </a:gs>
            <a:gs pos="41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BD7D0E42-D525-B0FA-2AFC-9999AA7BC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E54CA-80A8-B9B8-17B8-59E0FE2F10A6}"/>
              </a:ext>
            </a:extLst>
          </p:cNvPr>
          <p:cNvSpPr>
            <a:spLocks noGrp="1"/>
          </p:cNvSpPr>
          <p:nvPr>
            <p:ph type="title"/>
          </p:nvPr>
        </p:nvSpPr>
        <p:spPr>
          <a:xfrm>
            <a:off x="2686051" y="914781"/>
            <a:ext cx="6334124" cy="704088"/>
          </a:xfrm>
          <a:prstGeom prst="round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US" sz="2800" b="1" dirty="0">
                <a:solidFill>
                  <a:srgbClr val="FF9900"/>
                </a:solidFill>
                <a:latin typeface=" Amazon Ember"/>
                <a:cs typeface="Poppins" panose="020B0502040204020203" pitchFamily="2" charset="0"/>
              </a:rPr>
              <a:t>Task 7: Advanced KPI Reporting</a:t>
            </a:r>
          </a:p>
        </p:txBody>
      </p:sp>
      <p:sp>
        <p:nvSpPr>
          <p:cNvPr id="13" name="Subtitle 12">
            <a:extLst>
              <a:ext uri="{FF2B5EF4-FFF2-40B4-BE49-F238E27FC236}">
                <a16:creationId xmlns:a16="http://schemas.microsoft.com/office/drawing/2014/main" id="{633AC2BE-B8C8-E8C0-2707-6761F0FD6F5E}"/>
              </a:ext>
            </a:extLst>
          </p:cNvPr>
          <p:cNvSpPr>
            <a:spLocks noGrp="1"/>
          </p:cNvSpPr>
          <p:nvPr>
            <p:ph sz="half" idx="1"/>
          </p:nvPr>
        </p:nvSpPr>
        <p:spPr/>
        <p:txBody>
          <a:bodyPr>
            <a:noAutofit/>
          </a:bodyPr>
          <a:lstStyle/>
          <a:p>
            <a:pPr>
              <a:lnSpc>
                <a:spcPct val="150000"/>
              </a:lnSpc>
              <a:buFont typeface="Wingdings" panose="05000000000000000000" pitchFamily="2" charset="2"/>
              <a:buChar char="Ø"/>
            </a:pPr>
            <a:r>
              <a:rPr lang="en-US" sz="1200" dirty="0"/>
              <a:t>Average Traffic Delay per Route.</a:t>
            </a:r>
          </a:p>
          <a:p>
            <a:pPr>
              <a:lnSpc>
                <a:spcPct val="150000"/>
              </a:lnSpc>
              <a:buFont typeface="Wingdings" panose="05000000000000000000" pitchFamily="2" charset="2"/>
              <a:buChar char="Ø"/>
            </a:pPr>
            <a:endParaRPr lang="en-US" sz="1200" dirty="0"/>
          </a:p>
          <a:p>
            <a:pPr marL="0" indent="0">
              <a:lnSpc>
                <a:spcPct val="150000"/>
              </a:lnSpc>
              <a:buNone/>
            </a:pPr>
            <a:r>
              <a:rPr lang="en-US" sz="1200" dirty="0"/>
              <a:t> </a:t>
            </a:r>
          </a:p>
        </p:txBody>
      </p:sp>
      <p:pic>
        <p:nvPicPr>
          <p:cNvPr id="1026" name="Picture 2" descr="Current logo (2024–)">
            <a:extLst>
              <a:ext uri="{FF2B5EF4-FFF2-40B4-BE49-F238E27FC236}">
                <a16:creationId xmlns:a16="http://schemas.microsoft.com/office/drawing/2014/main" id="{1AB51CF0-3E0A-0F5F-D513-F308C7BEDB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4507" y="6467475"/>
            <a:ext cx="1143000" cy="390525"/>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Truck">
            <a:extLst>
              <a:ext uri="{FF2B5EF4-FFF2-40B4-BE49-F238E27FC236}">
                <a16:creationId xmlns:a16="http://schemas.microsoft.com/office/drawing/2014/main" id="{BA65EE73-4BA7-A41E-D191-5D687CF19C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253316"/>
            <a:ext cx="914400" cy="776748"/>
          </a:xfrm>
          <a:prstGeom prst="rect">
            <a:avLst/>
          </a:prstGeom>
        </p:spPr>
      </p:pic>
      <p:cxnSp>
        <p:nvCxnSpPr>
          <p:cNvPr id="8" name="Straight Connector 7">
            <a:extLst>
              <a:ext uri="{FF2B5EF4-FFF2-40B4-BE49-F238E27FC236}">
                <a16:creationId xmlns:a16="http://schemas.microsoft.com/office/drawing/2014/main" id="{4F08B3A2-E466-DD39-5810-3E3A6632993A}"/>
              </a:ext>
            </a:extLst>
          </p:cNvPr>
          <p:cNvCxnSpPr>
            <a:cxnSpLocks/>
          </p:cNvCxnSpPr>
          <p:nvPr/>
        </p:nvCxnSpPr>
        <p:spPr>
          <a:xfrm>
            <a:off x="0" y="6858000"/>
            <a:ext cx="12192000" cy="0"/>
          </a:xfrm>
          <a:prstGeom prst="line">
            <a:avLst/>
          </a:prstGeom>
          <a:ln w="38100">
            <a:solidFill>
              <a:srgbClr val="0070C0">
                <a:alpha val="85000"/>
              </a:srgb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07A9145B-A83B-816F-4DC7-4A8935C77C2E}"/>
              </a:ext>
            </a:extLst>
          </p:cNvPr>
          <p:cNvPicPr>
            <a:picLocks noChangeAspect="1"/>
          </p:cNvPicPr>
          <p:nvPr/>
        </p:nvPicPr>
        <p:blipFill>
          <a:blip r:embed="rId5"/>
          <a:stretch>
            <a:fillRect/>
          </a:stretch>
        </p:blipFill>
        <p:spPr>
          <a:xfrm>
            <a:off x="1154954" y="3045498"/>
            <a:ext cx="4267570" cy="1729890"/>
          </a:xfrm>
          <a:prstGeom prst="rect">
            <a:avLst/>
          </a:prstGeom>
        </p:spPr>
      </p:pic>
      <p:pic>
        <p:nvPicPr>
          <p:cNvPr id="10" name="Picture 9">
            <a:extLst>
              <a:ext uri="{FF2B5EF4-FFF2-40B4-BE49-F238E27FC236}">
                <a16:creationId xmlns:a16="http://schemas.microsoft.com/office/drawing/2014/main" id="{E12E1A68-BF39-6C23-83D9-E98E1888C13C}"/>
              </a:ext>
            </a:extLst>
          </p:cNvPr>
          <p:cNvPicPr>
            <a:picLocks noChangeAspect="1"/>
          </p:cNvPicPr>
          <p:nvPr/>
        </p:nvPicPr>
        <p:blipFill>
          <a:blip r:embed="rId6"/>
          <a:stretch>
            <a:fillRect/>
          </a:stretch>
        </p:blipFill>
        <p:spPr>
          <a:xfrm>
            <a:off x="6096000" y="2603500"/>
            <a:ext cx="4008467" cy="3444538"/>
          </a:xfrm>
          <a:prstGeom prst="rect">
            <a:avLst/>
          </a:prstGeom>
        </p:spPr>
      </p:pic>
    </p:spTree>
    <p:extLst>
      <p:ext uri="{BB962C8B-B14F-4D97-AF65-F5344CB8AC3E}">
        <p14:creationId xmlns:p14="http://schemas.microsoft.com/office/powerpoint/2010/main" val="30498887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509</TotalTime>
  <Words>584</Words>
  <Application>Microsoft Office PowerPoint</Application>
  <PresentationFormat>Widescreen</PresentationFormat>
  <Paragraphs>75</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 Amazon Ember</vt:lpstr>
      <vt:lpstr>Arial</vt:lpstr>
      <vt:lpstr>Calibri</vt:lpstr>
      <vt:lpstr>Century Gothic</vt:lpstr>
      <vt:lpstr>Wingdings</vt:lpstr>
      <vt:lpstr>Wingdings 3</vt:lpstr>
      <vt:lpstr>Ion Boardroom</vt:lpstr>
      <vt:lpstr>LOGISTICS OPTIMIZATION FOR DELIVERY ROUTES – AMAZON </vt:lpstr>
      <vt:lpstr>Task 1: Data Cleaning &amp; Preparation  </vt:lpstr>
      <vt:lpstr>Task 1: Data Cleaning &amp; Preparation  </vt:lpstr>
      <vt:lpstr>Task 2: Delivery Delay Analysis</vt:lpstr>
      <vt:lpstr>Task 2: Delivery Delay Analysis</vt:lpstr>
      <vt:lpstr>Task 3: Route Optimization Insights</vt:lpstr>
      <vt:lpstr>Task 3: Route Optimization Insights</vt:lpstr>
      <vt:lpstr>Task 3: Route Optimization Insights</vt:lpstr>
      <vt:lpstr>Task 3: Route Optimization Insights</vt:lpstr>
      <vt:lpstr>Task 3: Route Optimization Insights</vt:lpstr>
      <vt:lpstr>Task 4: Warehouse Performance</vt:lpstr>
      <vt:lpstr>Task 4: Warehouse Performance</vt:lpstr>
      <vt:lpstr>Task 4: Warehouse Performance</vt:lpstr>
      <vt:lpstr>Task 5: Delivery Agent Performance</vt:lpstr>
      <vt:lpstr>Task 5: Delivery Agent Performance</vt:lpstr>
      <vt:lpstr>Task 5: Delivery Agent Performance</vt:lpstr>
      <vt:lpstr>Task 6: Shipment Tracking Analytics</vt:lpstr>
      <vt:lpstr>Task 6: Shipment Tracking Analytics</vt:lpstr>
      <vt:lpstr>Task 7: Advanced KPI Reporting</vt:lpstr>
      <vt:lpstr>Task 7: Advanced KPI Reporting</vt:lpstr>
      <vt:lpstr>Task 7: Advanced KPI Reporting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Gupta</dc:creator>
  <cp:lastModifiedBy>Aditya Gupta</cp:lastModifiedBy>
  <cp:revision>4</cp:revision>
  <dcterms:created xsi:type="dcterms:W3CDTF">2025-10-13T17:33:15Z</dcterms:created>
  <dcterms:modified xsi:type="dcterms:W3CDTF">2025-10-17T09:30:08Z</dcterms:modified>
</cp:coreProperties>
</file>